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1" r:id="rId6"/>
    <p:sldId id="260"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embeddedFontLst>
    <p:embeddedFont>
      <p:font typeface="JetBrains Mono" panose="020B0604020202020204" charset="0"/>
      <p:regular r:id="rId24"/>
      <p:bold r:id="rId25"/>
      <p:italic r:id="rId26"/>
      <p:boldItalic r:id="rId27"/>
    </p:embeddedFont>
    <p:embeddedFont>
      <p:font typeface="Lato" panose="020F0502020204030203" pitchFamily="34" charset="0"/>
      <p:regular r:id="rId28"/>
      <p:bold r:id="rId29"/>
      <p:italic r:id="rId30"/>
      <p:boldItalic r:id="rId31"/>
    </p:embeddedFont>
    <p:embeddedFont>
      <p:font typeface="Poppins" panose="000005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ab159b5ebe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1" name="Google Shape;131;g3ab159b5e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ab159b5ebe_0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36" name="Google Shape;236;g3ab159b5eb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ab159b5ebe_0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41" name="Google Shape;241;g3ab159b5ebe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ab159b5ebe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58" name="Google Shape;358;g3ab159b5eb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ab159b5ebe_0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63" name="Google Shape;363;g3ab159b5eb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8" name="Google Shape;368;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jpg"/><Relationship Id="rId7"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3508131" y="1497344"/>
            <a:ext cx="5175738" cy="12311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8000" b="1" i="0" u="none" strike="noStrike" cap="none" dirty="0">
                <a:solidFill>
                  <a:srgbClr val="A78BFA"/>
                </a:solidFill>
                <a:latin typeface="Poppins"/>
                <a:ea typeface="Poppins"/>
                <a:cs typeface="Poppins"/>
                <a:sym typeface="Poppins"/>
              </a:rPr>
              <a:t>Inventra</a:t>
            </a:r>
            <a:endParaRPr dirty="0"/>
          </a:p>
        </p:txBody>
      </p:sp>
      <p:sp>
        <p:nvSpPr>
          <p:cNvPr id="86" name="Google Shape;86;p13"/>
          <p:cNvSpPr txBox="1"/>
          <p:nvPr/>
        </p:nvSpPr>
        <p:spPr>
          <a:xfrm>
            <a:off x="4000500" y="2728450"/>
            <a:ext cx="4191000" cy="7620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dirty="0">
                <a:solidFill>
                  <a:srgbClr val="A78BFA"/>
                </a:solidFill>
                <a:latin typeface="Lato"/>
                <a:ea typeface="Lato"/>
                <a:cs typeface="Lato"/>
                <a:sym typeface="Lato"/>
              </a:rPr>
              <a:t>Intelligent Inventory Management </a:t>
            </a:r>
            <a:r>
              <a:rPr lang="en-US" sz="1800" b="0" i="0" u="none" strike="noStrike" cap="none" dirty="0">
                <a:solidFill>
                  <a:srgbClr val="A78BFA"/>
                </a:solidFill>
                <a:latin typeface="Lato"/>
                <a:ea typeface="Lato"/>
                <a:cs typeface="Lato"/>
                <a:sym typeface="Lato"/>
              </a:rPr>
              <a:t>System</a:t>
            </a:r>
            <a:endParaRPr dirty="0"/>
          </a:p>
        </p:txBody>
      </p:sp>
      <p:sp>
        <p:nvSpPr>
          <p:cNvPr id="87" name="Google Shape;87;p13"/>
          <p:cNvSpPr/>
          <p:nvPr/>
        </p:nvSpPr>
        <p:spPr>
          <a:xfrm>
            <a:off x="5524500" y="3753217"/>
            <a:ext cx="1143000" cy="38100"/>
          </a:xfrm>
          <a:prstGeom prst="rect">
            <a:avLst/>
          </a:prstGeom>
          <a:solidFill>
            <a:srgbClr val="D946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3"/>
          <p:cNvSpPr txBox="1"/>
          <p:nvPr/>
        </p:nvSpPr>
        <p:spPr>
          <a:xfrm>
            <a:off x="3938875" y="5834250"/>
            <a:ext cx="4618200" cy="3231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a:solidFill>
                  <a:srgbClr val="F5F3FF"/>
                </a:solidFill>
                <a:latin typeface="Lato"/>
                <a:ea typeface="Lato"/>
                <a:cs typeface="Lato"/>
                <a:sym typeface="Lato"/>
              </a:rPr>
              <a:t>Seminar Presentation: Module 1 &amp; 2</a:t>
            </a:r>
            <a:endParaRPr/>
          </a:p>
        </p:txBody>
      </p:sp>
      <p:sp>
        <p:nvSpPr>
          <p:cNvPr id="89" name="Google Shape;89;p13"/>
          <p:cNvSpPr txBox="1"/>
          <p:nvPr/>
        </p:nvSpPr>
        <p:spPr>
          <a:xfrm>
            <a:off x="4719499" y="4074604"/>
            <a:ext cx="3056700" cy="548400"/>
          </a:xfrm>
          <a:prstGeom prst="rect">
            <a:avLst/>
          </a:prstGeom>
          <a:noFill/>
          <a:ln>
            <a:noFill/>
          </a:ln>
        </p:spPr>
        <p:txBody>
          <a:bodyPr spcFirstLastPara="1" wrap="square" lIns="0" tIns="0" rIns="0" bIns="0" anchor="t" anchorCtr="0">
            <a:spAutoFit/>
          </a:bodyPr>
          <a:lstStyle/>
          <a:p>
            <a:pPr marL="0" marR="0" lvl="0" indent="0" algn="ctr" rtl="0">
              <a:lnSpc>
                <a:spcPct val="149964"/>
              </a:lnSpc>
              <a:spcBef>
                <a:spcPts val="0"/>
              </a:spcBef>
              <a:spcAft>
                <a:spcPts val="0"/>
              </a:spcAft>
              <a:buNone/>
            </a:pPr>
            <a:r>
              <a:rPr lang="en-US" sz="1425" b="1" i="0" u="none" strike="noStrike" cap="none">
                <a:solidFill>
                  <a:srgbClr val="A78BFA"/>
                </a:solidFill>
                <a:latin typeface="Lato"/>
                <a:ea typeface="Lato"/>
                <a:cs typeface="Lato"/>
                <a:sym typeface="Lato"/>
              </a:rPr>
              <a:t>Authentication &amp; Product Manag</a:t>
            </a:r>
            <a:r>
              <a:rPr lang="en-US" sz="1425" b="1">
                <a:solidFill>
                  <a:srgbClr val="A78BFA"/>
                </a:solidFill>
                <a:latin typeface="Lato"/>
                <a:ea typeface="Lato"/>
                <a:cs typeface="Lato"/>
                <a:sym typeface="Lato"/>
              </a:rPr>
              <a:t>ement </a:t>
            </a:r>
            <a:r>
              <a:rPr lang="en-US" sz="1425" b="1" i="0" u="none" strike="noStrike" cap="none">
                <a:solidFill>
                  <a:srgbClr val="A78BFA"/>
                </a:solidFill>
                <a:latin typeface="Lato"/>
                <a:ea typeface="Lato"/>
                <a:cs typeface="Lato"/>
                <a:sym typeface="Lato"/>
              </a:rPr>
              <a:t>Control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5" name="Google Shape;95;p14"/>
          <p:cNvSpPr txBox="1"/>
          <p:nvPr/>
        </p:nvSpPr>
        <p:spPr>
          <a:xfrm>
            <a:off x="1390650" y="3293268"/>
            <a:ext cx="44672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CBD5E1"/>
                </a:solidFill>
                <a:latin typeface="Lato"/>
                <a:ea typeface="Lato"/>
                <a:cs typeface="Lato"/>
                <a:sym typeface="Lato"/>
              </a:rPr>
              <a:t>Module 1: Authentication</a:t>
            </a:r>
            <a:r>
              <a:rPr lang="en-US" sz="1425" b="0" i="0" u="none" strike="noStrike" cap="none">
                <a:solidFill>
                  <a:srgbClr val="CBD5E1"/>
                </a:solidFill>
                <a:latin typeface="Lato"/>
                <a:ea typeface="Lato"/>
                <a:cs typeface="Lato"/>
                <a:sym typeface="Lato"/>
              </a:rPr>
              <a:t> - Registration &amp; Login</a:t>
            </a:r>
            <a:endParaRPr/>
          </a:p>
        </p:txBody>
      </p:sp>
      <p:sp>
        <p:nvSpPr>
          <p:cNvPr id="96" name="Google Shape;96;p14"/>
          <p:cNvSpPr txBox="1"/>
          <p:nvPr/>
        </p:nvSpPr>
        <p:spPr>
          <a:xfrm>
            <a:off x="1390650" y="3736181"/>
            <a:ext cx="44672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CBD5E1"/>
                </a:solidFill>
                <a:latin typeface="Lato"/>
                <a:ea typeface="Lato"/>
                <a:cs typeface="Lato"/>
                <a:sym typeface="Lato"/>
              </a:rPr>
              <a:t>Module 2: Inventory Management</a:t>
            </a:r>
            <a:r>
              <a:rPr lang="en-US" sz="1425" b="0" i="0" u="none" strike="noStrike" cap="none">
                <a:solidFill>
                  <a:srgbClr val="CBD5E1"/>
                </a:solidFill>
                <a:latin typeface="Lato"/>
                <a:ea typeface="Lato"/>
                <a:cs typeface="Lato"/>
                <a:sym typeface="Lato"/>
              </a:rPr>
              <a:t> - Stock Control</a:t>
            </a:r>
            <a:endParaRPr/>
          </a:p>
        </p:txBody>
      </p:sp>
      <p:sp>
        <p:nvSpPr>
          <p:cNvPr id="97" name="Google Shape;97;p14"/>
          <p:cNvSpPr txBox="1"/>
          <p:nvPr/>
        </p:nvSpPr>
        <p:spPr>
          <a:xfrm>
            <a:off x="1390650" y="4179093"/>
            <a:ext cx="44672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CBD5E1"/>
                </a:solidFill>
                <a:latin typeface="Lato"/>
                <a:ea typeface="Lato"/>
                <a:cs typeface="Lato"/>
                <a:sym typeface="Lato"/>
              </a:rPr>
              <a:t>Pseudocode</a:t>
            </a:r>
            <a:r>
              <a:rPr lang="en-US" sz="1425" b="0" i="0" u="none" strike="noStrike" cap="none">
                <a:solidFill>
                  <a:srgbClr val="CBD5E1"/>
                </a:solidFill>
                <a:latin typeface="Lato"/>
                <a:ea typeface="Lato"/>
                <a:cs typeface="Lato"/>
                <a:sym typeface="Lato"/>
              </a:rPr>
              <a:t> - Line-by-line logic</a:t>
            </a:r>
            <a:endParaRPr/>
          </a:p>
        </p:txBody>
      </p:sp>
      <p:sp>
        <p:nvSpPr>
          <p:cNvPr id="98" name="Google Shape;98;p14"/>
          <p:cNvSpPr txBox="1"/>
          <p:nvPr/>
        </p:nvSpPr>
        <p:spPr>
          <a:xfrm>
            <a:off x="7143750" y="3293268"/>
            <a:ext cx="44672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CBD5E1"/>
                </a:solidFill>
                <a:latin typeface="Lato"/>
                <a:ea typeface="Lato"/>
                <a:cs typeface="Lato"/>
                <a:sym typeface="Lato"/>
              </a:rPr>
              <a:t>System Architecture</a:t>
            </a:r>
            <a:r>
              <a:rPr lang="en-US" sz="1425" b="0" i="0" u="none" strike="noStrike" cap="none">
                <a:solidFill>
                  <a:srgbClr val="CBD5E1"/>
                </a:solidFill>
                <a:latin typeface="Lato"/>
                <a:ea typeface="Lato"/>
                <a:cs typeface="Lato"/>
                <a:sym typeface="Lato"/>
              </a:rPr>
              <a:t> - Layered Design</a:t>
            </a:r>
            <a:endParaRPr/>
          </a:p>
        </p:txBody>
      </p:sp>
      <p:sp>
        <p:nvSpPr>
          <p:cNvPr id="99" name="Google Shape;99;p14"/>
          <p:cNvSpPr txBox="1"/>
          <p:nvPr/>
        </p:nvSpPr>
        <p:spPr>
          <a:xfrm>
            <a:off x="7143750" y="3736181"/>
            <a:ext cx="44672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CBD5E1"/>
                </a:solidFill>
                <a:latin typeface="Lato"/>
                <a:ea typeface="Lato"/>
                <a:cs typeface="Lato"/>
                <a:sym typeface="Lato"/>
              </a:rPr>
              <a:t>Data Flow</a:t>
            </a:r>
            <a:r>
              <a:rPr lang="en-US" sz="1425" b="0" i="0" u="none" strike="noStrike" cap="none">
                <a:solidFill>
                  <a:srgbClr val="CBD5E1"/>
                </a:solidFill>
                <a:latin typeface="Lato"/>
                <a:ea typeface="Lato"/>
                <a:cs typeface="Lato"/>
                <a:sym typeface="Lato"/>
              </a:rPr>
              <a:t> - Visualization &amp; Persistence</a:t>
            </a:r>
            <a:endParaRPr/>
          </a:p>
        </p:txBody>
      </p:sp>
      <p:sp>
        <p:nvSpPr>
          <p:cNvPr id="100" name="Google Shape;100;p14"/>
          <p:cNvSpPr txBox="1"/>
          <p:nvPr/>
        </p:nvSpPr>
        <p:spPr>
          <a:xfrm>
            <a:off x="7143750" y="4179093"/>
            <a:ext cx="44672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CBD5E1"/>
                </a:solidFill>
                <a:latin typeface="Lato"/>
                <a:ea typeface="Lato"/>
                <a:cs typeface="Lato"/>
                <a:sym typeface="Lato"/>
              </a:rPr>
              <a:t>Summary</a:t>
            </a:r>
            <a:r>
              <a:rPr lang="en-US" sz="1425" b="0" i="0" u="none" strike="noStrike" cap="none">
                <a:solidFill>
                  <a:srgbClr val="CBD5E1"/>
                </a:solidFill>
                <a:latin typeface="Lato"/>
                <a:ea typeface="Lato"/>
                <a:cs typeface="Lato"/>
                <a:sym typeface="Lato"/>
              </a:rPr>
              <a:t> - Key takeaways</a:t>
            </a:r>
            <a:endParaRPr/>
          </a:p>
        </p:txBody>
      </p:sp>
      <p:pic>
        <p:nvPicPr>
          <p:cNvPr id="101" name="Google Shape;101;p14" descr="image.png"/>
          <p:cNvPicPr preferRelativeResize="0"/>
          <p:nvPr/>
        </p:nvPicPr>
        <p:blipFill rotWithShape="1">
          <a:blip r:embed="rId4">
            <a:alphaModFix/>
          </a:blip>
          <a:srcRect/>
          <a:stretch/>
        </p:blipFill>
        <p:spPr>
          <a:xfrm>
            <a:off x="962025" y="3326606"/>
            <a:ext cx="209550" cy="219075"/>
          </a:xfrm>
          <a:prstGeom prst="rect">
            <a:avLst/>
          </a:prstGeom>
          <a:noFill/>
          <a:ln>
            <a:noFill/>
          </a:ln>
        </p:spPr>
      </p:pic>
      <p:pic>
        <p:nvPicPr>
          <p:cNvPr id="102" name="Google Shape;102;p14" descr="image.png"/>
          <p:cNvPicPr preferRelativeResize="0"/>
          <p:nvPr/>
        </p:nvPicPr>
        <p:blipFill rotWithShape="1">
          <a:blip r:embed="rId5">
            <a:alphaModFix/>
          </a:blip>
          <a:srcRect/>
          <a:stretch/>
        </p:blipFill>
        <p:spPr>
          <a:xfrm>
            <a:off x="962025" y="3769518"/>
            <a:ext cx="238125" cy="219075"/>
          </a:xfrm>
          <a:prstGeom prst="rect">
            <a:avLst/>
          </a:prstGeom>
          <a:noFill/>
          <a:ln>
            <a:noFill/>
          </a:ln>
        </p:spPr>
      </p:pic>
      <p:pic>
        <p:nvPicPr>
          <p:cNvPr id="103" name="Google Shape;103;p14" descr="image.png"/>
          <p:cNvPicPr preferRelativeResize="0"/>
          <p:nvPr/>
        </p:nvPicPr>
        <p:blipFill rotWithShape="1">
          <a:blip r:embed="rId6">
            <a:alphaModFix/>
          </a:blip>
          <a:srcRect/>
          <a:stretch/>
        </p:blipFill>
        <p:spPr>
          <a:xfrm>
            <a:off x="962025" y="4212431"/>
            <a:ext cx="266700" cy="219075"/>
          </a:xfrm>
          <a:prstGeom prst="rect">
            <a:avLst/>
          </a:prstGeom>
          <a:noFill/>
          <a:ln>
            <a:noFill/>
          </a:ln>
        </p:spPr>
      </p:pic>
      <p:pic>
        <p:nvPicPr>
          <p:cNvPr id="104" name="Google Shape;104;p14" descr="image.png"/>
          <p:cNvPicPr preferRelativeResize="0"/>
          <p:nvPr/>
        </p:nvPicPr>
        <p:blipFill rotWithShape="1">
          <a:blip r:embed="rId7">
            <a:alphaModFix/>
          </a:blip>
          <a:srcRect/>
          <a:stretch/>
        </p:blipFill>
        <p:spPr>
          <a:xfrm>
            <a:off x="6715125" y="3326606"/>
            <a:ext cx="238125" cy="219075"/>
          </a:xfrm>
          <a:prstGeom prst="rect">
            <a:avLst/>
          </a:prstGeom>
          <a:noFill/>
          <a:ln>
            <a:noFill/>
          </a:ln>
        </p:spPr>
      </p:pic>
      <p:pic>
        <p:nvPicPr>
          <p:cNvPr id="105" name="Google Shape;105;p14" descr="image.png"/>
          <p:cNvPicPr preferRelativeResize="0"/>
          <p:nvPr/>
        </p:nvPicPr>
        <p:blipFill rotWithShape="1">
          <a:blip r:embed="rId8">
            <a:alphaModFix/>
          </a:blip>
          <a:srcRect/>
          <a:stretch/>
        </p:blipFill>
        <p:spPr>
          <a:xfrm>
            <a:off x="6715125" y="3769518"/>
            <a:ext cx="180975" cy="219075"/>
          </a:xfrm>
          <a:prstGeom prst="rect">
            <a:avLst/>
          </a:prstGeom>
          <a:noFill/>
          <a:ln>
            <a:noFill/>
          </a:ln>
        </p:spPr>
      </p:pic>
      <p:pic>
        <p:nvPicPr>
          <p:cNvPr id="106" name="Google Shape;106;p14" descr="image.png"/>
          <p:cNvPicPr preferRelativeResize="0"/>
          <p:nvPr/>
        </p:nvPicPr>
        <p:blipFill rotWithShape="1">
          <a:blip r:embed="rId9">
            <a:alphaModFix/>
          </a:blip>
          <a:srcRect/>
          <a:stretch/>
        </p:blipFill>
        <p:spPr>
          <a:xfrm>
            <a:off x="6715125" y="4212431"/>
            <a:ext cx="209550" cy="219075"/>
          </a:xfrm>
          <a:prstGeom prst="rect">
            <a:avLst/>
          </a:prstGeom>
          <a:noFill/>
          <a:ln>
            <a:noFill/>
          </a:ln>
        </p:spPr>
      </p:pic>
      <p:sp>
        <p:nvSpPr>
          <p:cNvPr id="107" name="Google Shape;107;p14"/>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Table of Contents</a:t>
            </a:r>
            <a:endParaRPr/>
          </a:p>
        </p:txBody>
      </p:sp>
      <p:sp>
        <p:nvSpPr>
          <p:cNvPr id="108" name="Google Shape;108;p14"/>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112"/>
        <p:cNvGrpSpPr/>
        <p:nvPr/>
      </p:nvGrpSpPr>
      <p:grpSpPr>
        <a:xfrm>
          <a:off x="0" y="0"/>
          <a:ext cx="0" cy="0"/>
          <a:chOff x="0" y="0"/>
          <a:chExt cx="0" cy="0"/>
        </a:xfrm>
      </p:grpSpPr>
      <p:pic>
        <p:nvPicPr>
          <p:cNvPr id="113" name="Google Shape;113;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4" name="Google Shape;114;p15" descr="image.png"/>
          <p:cNvPicPr preferRelativeResize="0"/>
          <p:nvPr/>
        </p:nvPicPr>
        <p:blipFill rotWithShape="1">
          <a:blip r:embed="rId4">
            <a:alphaModFix/>
          </a:blip>
          <a:srcRect/>
          <a:stretch/>
        </p:blipFill>
        <p:spPr>
          <a:xfrm>
            <a:off x="581025" y="2924175"/>
            <a:ext cx="3486150" cy="2609850"/>
          </a:xfrm>
          <a:prstGeom prst="rect">
            <a:avLst/>
          </a:prstGeom>
          <a:noFill/>
          <a:ln>
            <a:noFill/>
          </a:ln>
        </p:spPr>
      </p:pic>
      <p:pic>
        <p:nvPicPr>
          <p:cNvPr id="115" name="Google Shape;115;p15" descr="image.png"/>
          <p:cNvPicPr preferRelativeResize="0"/>
          <p:nvPr/>
        </p:nvPicPr>
        <p:blipFill rotWithShape="1">
          <a:blip r:embed="rId5">
            <a:alphaModFix/>
          </a:blip>
          <a:srcRect/>
          <a:stretch/>
        </p:blipFill>
        <p:spPr>
          <a:xfrm>
            <a:off x="4352925" y="2924175"/>
            <a:ext cx="3486150" cy="2609850"/>
          </a:xfrm>
          <a:prstGeom prst="rect">
            <a:avLst/>
          </a:prstGeom>
          <a:noFill/>
          <a:ln>
            <a:noFill/>
          </a:ln>
        </p:spPr>
      </p:pic>
      <p:pic>
        <p:nvPicPr>
          <p:cNvPr id="116" name="Google Shape;116;p15" descr="image.png"/>
          <p:cNvPicPr preferRelativeResize="0"/>
          <p:nvPr/>
        </p:nvPicPr>
        <p:blipFill rotWithShape="1">
          <a:blip r:embed="rId6">
            <a:alphaModFix/>
          </a:blip>
          <a:srcRect/>
          <a:stretch/>
        </p:blipFill>
        <p:spPr>
          <a:xfrm>
            <a:off x="8124825" y="2924175"/>
            <a:ext cx="3486150" cy="2609850"/>
          </a:xfrm>
          <a:prstGeom prst="rect">
            <a:avLst/>
          </a:prstGeom>
          <a:noFill/>
          <a:ln>
            <a:noFill/>
          </a:ln>
        </p:spPr>
      </p:pic>
      <p:sp>
        <p:nvSpPr>
          <p:cNvPr id="117" name="Google Shape;117;p15"/>
          <p:cNvSpPr txBox="1"/>
          <p:nvPr/>
        </p:nvSpPr>
        <p:spPr>
          <a:xfrm>
            <a:off x="3481387" y="1905000"/>
            <a:ext cx="5229225"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dirty="0">
                <a:solidFill>
                  <a:srgbClr val="CBD5E1"/>
                </a:solidFill>
                <a:latin typeface="Lato"/>
                <a:ea typeface="Lato"/>
                <a:cs typeface="Lato"/>
                <a:sym typeface="Lato"/>
              </a:rPr>
              <a:t>Purpose: Secure identity management and access control.</a:t>
            </a:r>
            <a:endParaRPr dirty="0"/>
          </a:p>
        </p:txBody>
      </p:sp>
      <p:sp>
        <p:nvSpPr>
          <p:cNvPr id="118" name="Google Shape;118;p15"/>
          <p:cNvSpPr txBox="1"/>
          <p:nvPr/>
        </p:nvSpPr>
        <p:spPr>
          <a:xfrm>
            <a:off x="1607820" y="3952875"/>
            <a:ext cx="304038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D8B4FE"/>
                </a:solidFill>
                <a:latin typeface="Poppins"/>
                <a:ea typeface="Poppins"/>
                <a:cs typeface="Poppins"/>
                <a:sym typeface="Poppins"/>
              </a:rPr>
              <a:t>Sign-Up</a:t>
            </a:r>
            <a:endParaRPr/>
          </a:p>
        </p:txBody>
      </p:sp>
      <p:sp>
        <p:nvSpPr>
          <p:cNvPr id="119" name="Google Shape;119;p15"/>
          <p:cNvSpPr txBox="1"/>
          <p:nvPr/>
        </p:nvSpPr>
        <p:spPr>
          <a:xfrm>
            <a:off x="876300" y="4552950"/>
            <a:ext cx="28956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CBD5E1"/>
                </a:solidFill>
                <a:latin typeface="Lato"/>
                <a:ea typeface="Lato"/>
                <a:cs typeface="Lato"/>
                <a:sym typeface="Lato"/>
              </a:rPr>
              <a:t>Secure registration process with salted hashing algorithms.</a:t>
            </a:r>
            <a:endParaRPr/>
          </a:p>
        </p:txBody>
      </p:sp>
      <p:sp>
        <p:nvSpPr>
          <p:cNvPr id="120" name="Google Shape;120;p15"/>
          <p:cNvSpPr txBox="1"/>
          <p:nvPr/>
        </p:nvSpPr>
        <p:spPr>
          <a:xfrm>
            <a:off x="5093970" y="3971925"/>
            <a:ext cx="304038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D8B4FE"/>
                </a:solidFill>
                <a:latin typeface="Poppins"/>
                <a:ea typeface="Poppins"/>
                <a:cs typeface="Poppins"/>
                <a:sym typeface="Poppins"/>
              </a:rPr>
              <a:t>JWT Auth</a:t>
            </a:r>
            <a:endParaRPr dirty="0"/>
          </a:p>
        </p:txBody>
      </p:sp>
      <p:sp>
        <p:nvSpPr>
          <p:cNvPr id="121" name="Google Shape;121;p15"/>
          <p:cNvSpPr txBox="1"/>
          <p:nvPr/>
        </p:nvSpPr>
        <p:spPr>
          <a:xfrm>
            <a:off x="4648200" y="4552950"/>
            <a:ext cx="28956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CBD5E1"/>
                </a:solidFill>
                <a:latin typeface="Lato"/>
                <a:ea typeface="Lato"/>
                <a:cs typeface="Lato"/>
                <a:sym typeface="Lato"/>
              </a:rPr>
              <a:t>Stateless session management using JSON Web Tokens.</a:t>
            </a:r>
            <a:endParaRPr/>
          </a:p>
        </p:txBody>
      </p:sp>
      <p:sp>
        <p:nvSpPr>
          <p:cNvPr id="122" name="Google Shape;122;p15"/>
          <p:cNvSpPr txBox="1"/>
          <p:nvPr/>
        </p:nvSpPr>
        <p:spPr>
          <a:xfrm>
            <a:off x="9063990" y="3910012"/>
            <a:ext cx="304038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D8B4FE"/>
                </a:solidFill>
                <a:latin typeface="Poppins"/>
                <a:ea typeface="Poppins"/>
                <a:cs typeface="Poppins"/>
                <a:sym typeface="Poppins"/>
              </a:rPr>
              <a:t>Recovery</a:t>
            </a:r>
            <a:endParaRPr dirty="0"/>
          </a:p>
        </p:txBody>
      </p:sp>
      <p:sp>
        <p:nvSpPr>
          <p:cNvPr id="123" name="Google Shape;123;p15"/>
          <p:cNvSpPr txBox="1"/>
          <p:nvPr/>
        </p:nvSpPr>
        <p:spPr>
          <a:xfrm>
            <a:off x="8420100" y="4552950"/>
            <a:ext cx="28956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CBD5E1"/>
                </a:solidFill>
                <a:latin typeface="Lato"/>
                <a:ea typeface="Lato"/>
                <a:cs typeface="Lato"/>
                <a:sym typeface="Lato"/>
              </a:rPr>
              <a:t>Automated forgot password link generation and dispatch.</a:t>
            </a:r>
            <a:endParaRPr/>
          </a:p>
        </p:txBody>
      </p:sp>
      <p:pic>
        <p:nvPicPr>
          <p:cNvPr id="124" name="Google Shape;124;p15" descr="image.png"/>
          <p:cNvPicPr preferRelativeResize="0"/>
          <p:nvPr/>
        </p:nvPicPr>
        <p:blipFill rotWithShape="1">
          <a:blip r:embed="rId7">
            <a:alphaModFix/>
          </a:blip>
          <a:srcRect/>
          <a:stretch/>
        </p:blipFill>
        <p:spPr>
          <a:xfrm>
            <a:off x="2038350" y="3267075"/>
            <a:ext cx="571500" cy="457200"/>
          </a:xfrm>
          <a:prstGeom prst="rect">
            <a:avLst/>
          </a:prstGeom>
          <a:noFill/>
          <a:ln>
            <a:noFill/>
          </a:ln>
        </p:spPr>
      </p:pic>
      <p:pic>
        <p:nvPicPr>
          <p:cNvPr id="125" name="Google Shape;125;p15" descr="image.png"/>
          <p:cNvPicPr preferRelativeResize="0"/>
          <p:nvPr/>
        </p:nvPicPr>
        <p:blipFill rotWithShape="1">
          <a:blip r:embed="rId8">
            <a:alphaModFix/>
          </a:blip>
          <a:srcRect/>
          <a:stretch/>
        </p:blipFill>
        <p:spPr>
          <a:xfrm>
            <a:off x="5867400" y="3267075"/>
            <a:ext cx="457200" cy="457200"/>
          </a:xfrm>
          <a:prstGeom prst="rect">
            <a:avLst/>
          </a:prstGeom>
          <a:noFill/>
          <a:ln>
            <a:noFill/>
          </a:ln>
        </p:spPr>
      </p:pic>
      <p:pic>
        <p:nvPicPr>
          <p:cNvPr id="126" name="Google Shape;126;p15" descr="image.png"/>
          <p:cNvPicPr preferRelativeResize="0"/>
          <p:nvPr/>
        </p:nvPicPr>
        <p:blipFill rotWithShape="1">
          <a:blip r:embed="rId9">
            <a:alphaModFix/>
          </a:blip>
          <a:srcRect/>
          <a:stretch/>
        </p:blipFill>
        <p:spPr>
          <a:xfrm>
            <a:off x="9639300" y="3267075"/>
            <a:ext cx="457200" cy="457200"/>
          </a:xfrm>
          <a:prstGeom prst="rect">
            <a:avLst/>
          </a:prstGeom>
          <a:noFill/>
          <a:ln>
            <a:noFill/>
          </a:ln>
        </p:spPr>
      </p:pic>
      <p:sp>
        <p:nvSpPr>
          <p:cNvPr id="127" name="Google Shape;127;p15"/>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Module 1: Authentication</a:t>
            </a:r>
            <a:endParaRPr/>
          </a:p>
        </p:txBody>
      </p:sp>
      <p:sp>
        <p:nvSpPr>
          <p:cNvPr id="128" name="Google Shape;128;p15"/>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6" descr="can u make this slide of table into visible way"/>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152"/>
        <p:cNvGrpSpPr/>
        <p:nvPr/>
      </p:nvGrpSpPr>
      <p:grpSpPr>
        <a:xfrm>
          <a:off x="0" y="0"/>
          <a:ext cx="0" cy="0"/>
          <a:chOff x="0" y="0"/>
          <a:chExt cx="0" cy="0"/>
        </a:xfrm>
      </p:grpSpPr>
      <p:pic>
        <p:nvPicPr>
          <p:cNvPr id="153" name="Google Shape;153;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4" name="Google Shape;154;p18" descr="image.png"/>
          <p:cNvPicPr preferRelativeResize="0"/>
          <p:nvPr/>
        </p:nvPicPr>
        <p:blipFill rotWithShape="1">
          <a:blip r:embed="rId4">
            <a:alphaModFix/>
          </a:blip>
          <a:srcRect/>
          <a:stretch/>
        </p:blipFill>
        <p:spPr>
          <a:xfrm>
            <a:off x="581025" y="2133004"/>
            <a:ext cx="11029950" cy="3496865"/>
          </a:xfrm>
          <a:prstGeom prst="rect">
            <a:avLst/>
          </a:prstGeom>
          <a:noFill/>
          <a:ln>
            <a:noFill/>
          </a:ln>
        </p:spPr>
      </p:pic>
      <p:sp>
        <p:nvSpPr>
          <p:cNvPr id="155" name="Google Shape;155;p18"/>
          <p:cNvSpPr txBox="1"/>
          <p:nvPr/>
        </p:nvSpPr>
        <p:spPr>
          <a:xfrm>
            <a:off x="914400" y="2437804"/>
            <a:ext cx="47625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CLASS</a:t>
            </a:r>
            <a:endParaRPr/>
          </a:p>
        </p:txBody>
      </p:sp>
      <p:sp>
        <p:nvSpPr>
          <p:cNvPr id="156" name="Google Shape;156;p18"/>
          <p:cNvSpPr txBox="1"/>
          <p:nvPr/>
        </p:nvSpPr>
        <p:spPr>
          <a:xfrm>
            <a:off x="1485900" y="2437804"/>
            <a:ext cx="104775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2D3EE"/>
                </a:solidFill>
                <a:latin typeface="JetBrains Mono"/>
                <a:ea typeface="JetBrains Mono"/>
                <a:cs typeface="JetBrains Mono"/>
                <a:sym typeface="JetBrains Mono"/>
              </a:rPr>
              <a:t>AuthService</a:t>
            </a:r>
            <a:endParaRPr/>
          </a:p>
        </p:txBody>
      </p:sp>
      <p:sp>
        <p:nvSpPr>
          <p:cNvPr id="157" name="Google Shape;157;p18"/>
          <p:cNvSpPr txBox="1"/>
          <p:nvPr/>
        </p:nvSpPr>
        <p:spPr>
          <a:xfrm>
            <a:off x="914400" y="2681585"/>
            <a:ext cx="762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FUNCTION</a:t>
            </a:r>
            <a:endParaRPr/>
          </a:p>
        </p:txBody>
      </p:sp>
      <p:sp>
        <p:nvSpPr>
          <p:cNvPr id="158" name="Google Shape;158;p18"/>
          <p:cNvSpPr txBox="1"/>
          <p:nvPr/>
        </p:nvSpPr>
        <p:spPr>
          <a:xfrm>
            <a:off x="1771650" y="2681585"/>
            <a:ext cx="1143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2D3EE"/>
                </a:solidFill>
                <a:latin typeface="JetBrains Mono"/>
                <a:ea typeface="JetBrains Mono"/>
                <a:cs typeface="JetBrains Mono"/>
                <a:sym typeface="JetBrains Mono"/>
              </a:rPr>
              <a:t>registerUser</a:t>
            </a:r>
            <a:endParaRPr/>
          </a:p>
        </p:txBody>
      </p:sp>
      <p:sp>
        <p:nvSpPr>
          <p:cNvPr id="159" name="Google Shape;159;p18"/>
          <p:cNvSpPr txBox="1"/>
          <p:nvPr/>
        </p:nvSpPr>
        <p:spPr>
          <a:xfrm>
            <a:off x="1104900" y="3169146"/>
            <a:ext cx="1905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IF</a:t>
            </a:r>
            <a:endParaRPr/>
          </a:p>
        </p:txBody>
      </p:sp>
      <p:sp>
        <p:nvSpPr>
          <p:cNvPr id="160" name="Google Shape;160;p18"/>
          <p:cNvSpPr txBox="1"/>
          <p:nvPr/>
        </p:nvSpPr>
        <p:spPr>
          <a:xfrm>
            <a:off x="3295650" y="3169146"/>
            <a:ext cx="104775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THEN RETURN</a:t>
            </a:r>
            <a:endParaRPr/>
          </a:p>
        </p:txBody>
      </p:sp>
      <p:sp>
        <p:nvSpPr>
          <p:cNvPr id="161" name="Google Shape;161;p18"/>
          <p:cNvSpPr txBox="1"/>
          <p:nvPr/>
        </p:nvSpPr>
        <p:spPr>
          <a:xfrm>
            <a:off x="1104900" y="4875609"/>
            <a:ext cx="5715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RETURN</a:t>
            </a:r>
            <a:endParaRPr/>
          </a:p>
        </p:txBody>
      </p:sp>
      <p:sp>
        <p:nvSpPr>
          <p:cNvPr id="162" name="Google Shape;162;p18"/>
          <p:cNvSpPr txBox="1"/>
          <p:nvPr/>
        </p:nvSpPr>
        <p:spPr>
          <a:xfrm>
            <a:off x="914400" y="5119389"/>
            <a:ext cx="1143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END FUNCTION</a:t>
            </a:r>
            <a:endParaRPr/>
          </a:p>
        </p:txBody>
      </p:sp>
      <p:sp>
        <p:nvSpPr>
          <p:cNvPr id="163" name="Google Shape;163;p18"/>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Sign-Up Service Implementation</a:t>
            </a:r>
            <a:endParaRPr/>
          </a:p>
        </p:txBody>
      </p:sp>
      <p:sp>
        <p:nvSpPr>
          <p:cNvPr id="164" name="Google Shape;164;p18"/>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137"/>
        <p:cNvGrpSpPr/>
        <p:nvPr/>
      </p:nvGrpSpPr>
      <p:grpSpPr>
        <a:xfrm>
          <a:off x="0" y="0"/>
          <a:ext cx="0" cy="0"/>
          <a:chOff x="0" y="0"/>
          <a:chExt cx="0" cy="0"/>
        </a:xfrm>
      </p:grpSpPr>
      <p:pic>
        <p:nvPicPr>
          <p:cNvPr id="138" name="Google Shape;138;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9" name="Google Shape;139;p17" descr="image.png"/>
          <p:cNvPicPr preferRelativeResize="0"/>
          <p:nvPr/>
        </p:nvPicPr>
        <p:blipFill rotWithShape="1">
          <a:blip r:embed="rId4">
            <a:alphaModFix/>
          </a:blip>
          <a:srcRect/>
          <a:stretch/>
        </p:blipFill>
        <p:spPr>
          <a:xfrm>
            <a:off x="581025" y="2635597"/>
            <a:ext cx="11029950" cy="2491531"/>
          </a:xfrm>
          <a:prstGeom prst="rect">
            <a:avLst/>
          </a:prstGeom>
          <a:noFill/>
          <a:ln>
            <a:noFill/>
          </a:ln>
        </p:spPr>
      </p:pic>
      <p:sp>
        <p:nvSpPr>
          <p:cNvPr id="140" name="Google Shape;140;p17"/>
          <p:cNvSpPr txBox="1"/>
          <p:nvPr/>
        </p:nvSpPr>
        <p:spPr>
          <a:xfrm>
            <a:off x="914400" y="2940397"/>
            <a:ext cx="5238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CLASS</a:t>
            </a:r>
            <a:endParaRPr/>
          </a:p>
        </p:txBody>
      </p:sp>
      <p:sp>
        <p:nvSpPr>
          <p:cNvPr id="141" name="Google Shape;141;p17"/>
          <p:cNvSpPr txBox="1"/>
          <p:nvPr/>
        </p:nvSpPr>
        <p:spPr>
          <a:xfrm>
            <a:off x="1543050" y="2940397"/>
            <a:ext cx="14668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AuthController</a:t>
            </a:r>
            <a:endParaRPr/>
          </a:p>
        </p:txBody>
      </p:sp>
      <p:sp>
        <p:nvSpPr>
          <p:cNvPr id="142" name="Google Shape;142;p17"/>
          <p:cNvSpPr txBox="1"/>
          <p:nvPr/>
        </p:nvSpPr>
        <p:spPr>
          <a:xfrm>
            <a:off x="914400" y="3214687"/>
            <a:ext cx="8382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FUNCTION</a:t>
            </a:r>
            <a:endParaRPr/>
          </a:p>
        </p:txBody>
      </p:sp>
      <p:sp>
        <p:nvSpPr>
          <p:cNvPr id="143" name="Google Shape;143;p17"/>
          <p:cNvSpPr txBox="1"/>
          <p:nvPr/>
        </p:nvSpPr>
        <p:spPr>
          <a:xfrm>
            <a:off x="1857375" y="3214687"/>
            <a:ext cx="6286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signup</a:t>
            </a:r>
            <a:endParaRPr/>
          </a:p>
        </p:txBody>
      </p:sp>
      <p:sp>
        <p:nvSpPr>
          <p:cNvPr id="144" name="Google Shape;144;p17"/>
          <p:cNvSpPr txBox="1"/>
          <p:nvPr/>
        </p:nvSpPr>
        <p:spPr>
          <a:xfrm>
            <a:off x="1123950" y="4037558"/>
            <a:ext cx="6286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RETURN</a:t>
            </a:r>
            <a:endParaRPr/>
          </a:p>
        </p:txBody>
      </p:sp>
      <p:sp>
        <p:nvSpPr>
          <p:cNvPr id="145" name="Google Shape;145;p17"/>
          <p:cNvSpPr txBox="1"/>
          <p:nvPr/>
        </p:nvSpPr>
        <p:spPr>
          <a:xfrm>
            <a:off x="914400" y="4311848"/>
            <a:ext cx="12573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FUNCTION</a:t>
            </a:r>
            <a:endParaRPr/>
          </a:p>
        </p:txBody>
      </p:sp>
      <p:sp>
        <p:nvSpPr>
          <p:cNvPr id="146" name="Google Shape;146;p17"/>
          <p:cNvSpPr txBox="1"/>
          <p:nvPr/>
        </p:nvSpPr>
        <p:spPr>
          <a:xfrm>
            <a:off x="914400" y="4586138"/>
            <a:ext cx="9429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CLASS</a:t>
            </a:r>
            <a:endParaRPr/>
          </a:p>
        </p:txBody>
      </p:sp>
      <p:sp>
        <p:nvSpPr>
          <p:cNvPr id="147" name="Google Shape;147;p17"/>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Sign-Up Controller Pseudocode</a:t>
            </a:r>
            <a:endParaRPr/>
          </a:p>
        </p:txBody>
      </p:sp>
      <p:sp>
        <p:nvSpPr>
          <p:cNvPr id="148" name="Google Shape;148;p17"/>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183"/>
        <p:cNvGrpSpPr/>
        <p:nvPr/>
      </p:nvGrpSpPr>
      <p:grpSpPr>
        <a:xfrm>
          <a:off x="0" y="0"/>
          <a:ext cx="0" cy="0"/>
          <a:chOff x="0" y="0"/>
          <a:chExt cx="0" cy="0"/>
        </a:xfrm>
      </p:grpSpPr>
      <p:pic>
        <p:nvPicPr>
          <p:cNvPr id="184" name="Google Shape;184;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5" name="Google Shape;185;p20" descr="image.png"/>
          <p:cNvPicPr preferRelativeResize="0"/>
          <p:nvPr/>
        </p:nvPicPr>
        <p:blipFill rotWithShape="1">
          <a:blip r:embed="rId4">
            <a:alphaModFix/>
          </a:blip>
          <a:srcRect/>
          <a:stretch/>
        </p:blipFill>
        <p:spPr>
          <a:xfrm>
            <a:off x="581025" y="2254894"/>
            <a:ext cx="11029950" cy="3253085"/>
          </a:xfrm>
          <a:prstGeom prst="rect">
            <a:avLst/>
          </a:prstGeom>
          <a:noFill/>
          <a:ln>
            <a:noFill/>
          </a:ln>
        </p:spPr>
      </p:pic>
      <p:sp>
        <p:nvSpPr>
          <p:cNvPr id="186" name="Google Shape;186;p20"/>
          <p:cNvSpPr txBox="1"/>
          <p:nvPr/>
        </p:nvSpPr>
        <p:spPr>
          <a:xfrm>
            <a:off x="914400" y="2559694"/>
            <a:ext cx="47625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CLASS</a:t>
            </a:r>
            <a:endParaRPr/>
          </a:p>
        </p:txBody>
      </p:sp>
      <p:sp>
        <p:nvSpPr>
          <p:cNvPr id="187" name="Google Shape;187;p20"/>
          <p:cNvSpPr txBox="1"/>
          <p:nvPr/>
        </p:nvSpPr>
        <p:spPr>
          <a:xfrm>
            <a:off x="1485900" y="2559694"/>
            <a:ext cx="104775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2D3EE"/>
                </a:solidFill>
                <a:latin typeface="JetBrains Mono"/>
                <a:ea typeface="JetBrains Mono"/>
                <a:cs typeface="JetBrains Mono"/>
                <a:sym typeface="JetBrains Mono"/>
              </a:rPr>
              <a:t>AuthService</a:t>
            </a:r>
            <a:endParaRPr/>
          </a:p>
        </p:txBody>
      </p:sp>
      <p:sp>
        <p:nvSpPr>
          <p:cNvPr id="188" name="Google Shape;188;p20"/>
          <p:cNvSpPr txBox="1"/>
          <p:nvPr/>
        </p:nvSpPr>
        <p:spPr>
          <a:xfrm>
            <a:off x="914400" y="2803475"/>
            <a:ext cx="762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FUNCTION</a:t>
            </a:r>
            <a:endParaRPr/>
          </a:p>
        </p:txBody>
      </p:sp>
      <p:sp>
        <p:nvSpPr>
          <p:cNvPr id="189" name="Google Shape;189;p20"/>
          <p:cNvSpPr txBox="1"/>
          <p:nvPr/>
        </p:nvSpPr>
        <p:spPr>
          <a:xfrm>
            <a:off x="1771650" y="2803475"/>
            <a:ext cx="1143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2D3EE"/>
                </a:solidFill>
                <a:latin typeface="JetBrains Mono"/>
                <a:ea typeface="JetBrains Mono"/>
                <a:cs typeface="JetBrains Mono"/>
                <a:sym typeface="JetBrains Mono"/>
              </a:rPr>
              <a:t>authenticate</a:t>
            </a:r>
            <a:endParaRPr/>
          </a:p>
        </p:txBody>
      </p:sp>
      <p:sp>
        <p:nvSpPr>
          <p:cNvPr id="190" name="Google Shape;190;p20"/>
          <p:cNvSpPr txBox="1"/>
          <p:nvPr/>
        </p:nvSpPr>
        <p:spPr>
          <a:xfrm>
            <a:off x="1104900" y="3291036"/>
            <a:ext cx="1905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IF</a:t>
            </a:r>
            <a:endParaRPr/>
          </a:p>
        </p:txBody>
      </p:sp>
      <p:sp>
        <p:nvSpPr>
          <p:cNvPr id="191" name="Google Shape;191;p20"/>
          <p:cNvSpPr txBox="1"/>
          <p:nvPr/>
        </p:nvSpPr>
        <p:spPr>
          <a:xfrm>
            <a:off x="2914650" y="3291036"/>
            <a:ext cx="104775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THEN RETURN</a:t>
            </a:r>
            <a:endParaRPr/>
          </a:p>
        </p:txBody>
      </p:sp>
      <p:sp>
        <p:nvSpPr>
          <p:cNvPr id="192" name="Google Shape;192;p20"/>
          <p:cNvSpPr txBox="1"/>
          <p:nvPr/>
        </p:nvSpPr>
        <p:spPr>
          <a:xfrm>
            <a:off x="1104900" y="3534816"/>
            <a:ext cx="1905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IF</a:t>
            </a:r>
            <a:endParaRPr/>
          </a:p>
        </p:txBody>
      </p:sp>
      <p:sp>
        <p:nvSpPr>
          <p:cNvPr id="193" name="Google Shape;193;p20"/>
          <p:cNvSpPr txBox="1"/>
          <p:nvPr/>
        </p:nvSpPr>
        <p:spPr>
          <a:xfrm>
            <a:off x="4343400" y="3534816"/>
            <a:ext cx="381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THEN</a:t>
            </a:r>
            <a:endParaRPr/>
          </a:p>
        </p:txBody>
      </p:sp>
      <p:sp>
        <p:nvSpPr>
          <p:cNvPr id="194" name="Google Shape;194;p20"/>
          <p:cNvSpPr txBox="1"/>
          <p:nvPr/>
        </p:nvSpPr>
        <p:spPr>
          <a:xfrm>
            <a:off x="1295400" y="4022377"/>
            <a:ext cx="5715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RETURN</a:t>
            </a:r>
            <a:endParaRPr/>
          </a:p>
        </p:txBody>
      </p:sp>
      <p:sp>
        <p:nvSpPr>
          <p:cNvPr id="195" name="Google Shape;195;p20"/>
          <p:cNvSpPr txBox="1"/>
          <p:nvPr/>
        </p:nvSpPr>
        <p:spPr>
          <a:xfrm>
            <a:off x="1104900" y="4266158"/>
            <a:ext cx="381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ELSE</a:t>
            </a:r>
            <a:endParaRPr/>
          </a:p>
        </p:txBody>
      </p:sp>
      <p:sp>
        <p:nvSpPr>
          <p:cNvPr id="196" name="Google Shape;196;p20"/>
          <p:cNvSpPr txBox="1"/>
          <p:nvPr/>
        </p:nvSpPr>
        <p:spPr>
          <a:xfrm>
            <a:off x="1295400" y="4509938"/>
            <a:ext cx="5715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RETURN</a:t>
            </a:r>
            <a:endParaRPr/>
          </a:p>
        </p:txBody>
      </p:sp>
      <p:sp>
        <p:nvSpPr>
          <p:cNvPr id="197" name="Google Shape;197;p20"/>
          <p:cNvSpPr txBox="1"/>
          <p:nvPr/>
        </p:nvSpPr>
        <p:spPr>
          <a:xfrm>
            <a:off x="1104900" y="4753719"/>
            <a:ext cx="5715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END IF</a:t>
            </a:r>
            <a:endParaRPr/>
          </a:p>
        </p:txBody>
      </p:sp>
      <p:sp>
        <p:nvSpPr>
          <p:cNvPr id="198" name="Google Shape;198;p20"/>
          <p:cNvSpPr txBox="1"/>
          <p:nvPr/>
        </p:nvSpPr>
        <p:spPr>
          <a:xfrm>
            <a:off x="914400" y="4997499"/>
            <a:ext cx="1143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END FUNCTION</a:t>
            </a:r>
            <a:endParaRPr/>
          </a:p>
        </p:txBody>
      </p:sp>
      <p:sp>
        <p:nvSpPr>
          <p:cNvPr id="199" name="Google Shape;199;p20"/>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Sign-In Service Implementation</a:t>
            </a:r>
            <a:endParaRPr/>
          </a:p>
        </p:txBody>
      </p:sp>
      <p:sp>
        <p:nvSpPr>
          <p:cNvPr id="200" name="Google Shape;200;p20"/>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168"/>
        <p:cNvGrpSpPr/>
        <p:nvPr/>
      </p:nvGrpSpPr>
      <p:grpSpPr>
        <a:xfrm>
          <a:off x="0" y="0"/>
          <a:ext cx="0" cy="0"/>
          <a:chOff x="0" y="0"/>
          <a:chExt cx="0" cy="0"/>
        </a:xfrm>
      </p:grpSpPr>
      <p:pic>
        <p:nvPicPr>
          <p:cNvPr id="169" name="Google Shape;16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0" name="Google Shape;170;p19" descr="image.png"/>
          <p:cNvPicPr preferRelativeResize="0"/>
          <p:nvPr/>
        </p:nvPicPr>
        <p:blipFill rotWithShape="1">
          <a:blip r:embed="rId4">
            <a:alphaModFix/>
          </a:blip>
          <a:srcRect/>
          <a:stretch/>
        </p:blipFill>
        <p:spPr>
          <a:xfrm>
            <a:off x="581025" y="2498526"/>
            <a:ext cx="11029950" cy="2765821"/>
          </a:xfrm>
          <a:prstGeom prst="rect">
            <a:avLst/>
          </a:prstGeom>
          <a:noFill/>
          <a:ln>
            <a:noFill/>
          </a:ln>
        </p:spPr>
      </p:pic>
      <p:sp>
        <p:nvSpPr>
          <p:cNvPr id="171" name="Google Shape;171;p19"/>
          <p:cNvSpPr txBox="1"/>
          <p:nvPr/>
        </p:nvSpPr>
        <p:spPr>
          <a:xfrm>
            <a:off x="914400" y="2803326"/>
            <a:ext cx="5238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CLASS</a:t>
            </a:r>
            <a:endParaRPr/>
          </a:p>
        </p:txBody>
      </p:sp>
      <p:sp>
        <p:nvSpPr>
          <p:cNvPr id="172" name="Google Shape;172;p19"/>
          <p:cNvSpPr txBox="1"/>
          <p:nvPr/>
        </p:nvSpPr>
        <p:spPr>
          <a:xfrm>
            <a:off x="1543050" y="2803326"/>
            <a:ext cx="14668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AuthController</a:t>
            </a:r>
            <a:endParaRPr/>
          </a:p>
        </p:txBody>
      </p:sp>
      <p:sp>
        <p:nvSpPr>
          <p:cNvPr id="173" name="Google Shape;173;p19"/>
          <p:cNvSpPr txBox="1"/>
          <p:nvPr/>
        </p:nvSpPr>
        <p:spPr>
          <a:xfrm>
            <a:off x="914400" y="3077616"/>
            <a:ext cx="8382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FUNCTION</a:t>
            </a:r>
            <a:endParaRPr/>
          </a:p>
        </p:txBody>
      </p:sp>
      <p:sp>
        <p:nvSpPr>
          <p:cNvPr id="174" name="Google Shape;174;p19"/>
          <p:cNvSpPr txBox="1"/>
          <p:nvPr/>
        </p:nvSpPr>
        <p:spPr>
          <a:xfrm>
            <a:off x="1857375" y="3077616"/>
            <a:ext cx="6286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signin</a:t>
            </a:r>
            <a:endParaRPr/>
          </a:p>
        </p:txBody>
      </p:sp>
      <p:sp>
        <p:nvSpPr>
          <p:cNvPr id="175" name="Google Shape;175;p19"/>
          <p:cNvSpPr txBox="1"/>
          <p:nvPr/>
        </p:nvSpPr>
        <p:spPr>
          <a:xfrm>
            <a:off x="1123950" y="4174777"/>
            <a:ext cx="6286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RETURN</a:t>
            </a:r>
            <a:endParaRPr/>
          </a:p>
        </p:txBody>
      </p:sp>
      <p:sp>
        <p:nvSpPr>
          <p:cNvPr id="176" name="Google Shape;176;p19"/>
          <p:cNvSpPr txBox="1"/>
          <p:nvPr/>
        </p:nvSpPr>
        <p:spPr>
          <a:xfrm>
            <a:off x="914400" y="4449067"/>
            <a:ext cx="12573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FUNCTION</a:t>
            </a:r>
            <a:endParaRPr/>
          </a:p>
        </p:txBody>
      </p:sp>
      <p:sp>
        <p:nvSpPr>
          <p:cNvPr id="177" name="Google Shape;177;p19"/>
          <p:cNvSpPr txBox="1"/>
          <p:nvPr/>
        </p:nvSpPr>
        <p:spPr>
          <a:xfrm>
            <a:off x="914400" y="4723358"/>
            <a:ext cx="9429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CLASS</a:t>
            </a:r>
            <a:endParaRPr/>
          </a:p>
        </p:txBody>
      </p:sp>
      <p:sp>
        <p:nvSpPr>
          <p:cNvPr id="178" name="Google Shape;178;p19"/>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Sign-In Controller Pseudocode</a:t>
            </a:r>
            <a:endParaRPr/>
          </a:p>
        </p:txBody>
      </p:sp>
      <p:sp>
        <p:nvSpPr>
          <p:cNvPr id="179" name="Google Shape;179;p19"/>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204"/>
        <p:cNvGrpSpPr/>
        <p:nvPr/>
      </p:nvGrpSpPr>
      <p:grpSpPr>
        <a:xfrm>
          <a:off x="0" y="0"/>
          <a:ext cx="0" cy="0"/>
          <a:chOff x="0" y="0"/>
          <a:chExt cx="0" cy="0"/>
        </a:xfrm>
      </p:grpSpPr>
      <p:pic>
        <p:nvPicPr>
          <p:cNvPr id="205" name="Google Shape;205;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6" name="Google Shape;206;p21" descr="image.png"/>
          <p:cNvPicPr preferRelativeResize="0"/>
          <p:nvPr/>
        </p:nvPicPr>
        <p:blipFill rotWithShape="1">
          <a:blip r:embed="rId4">
            <a:alphaModFix/>
          </a:blip>
          <a:srcRect/>
          <a:stretch/>
        </p:blipFill>
        <p:spPr>
          <a:xfrm>
            <a:off x="581025" y="2361307"/>
            <a:ext cx="11029950" cy="3040112"/>
          </a:xfrm>
          <a:prstGeom prst="rect">
            <a:avLst/>
          </a:prstGeom>
          <a:noFill/>
          <a:ln>
            <a:noFill/>
          </a:ln>
        </p:spPr>
      </p:pic>
      <p:sp>
        <p:nvSpPr>
          <p:cNvPr id="207" name="Google Shape;207;p21"/>
          <p:cNvSpPr txBox="1"/>
          <p:nvPr/>
        </p:nvSpPr>
        <p:spPr>
          <a:xfrm>
            <a:off x="914400" y="2666107"/>
            <a:ext cx="5238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CLASS</a:t>
            </a:r>
            <a:endParaRPr/>
          </a:p>
        </p:txBody>
      </p:sp>
      <p:sp>
        <p:nvSpPr>
          <p:cNvPr id="208" name="Google Shape;208;p21"/>
          <p:cNvSpPr txBox="1"/>
          <p:nvPr/>
        </p:nvSpPr>
        <p:spPr>
          <a:xfrm>
            <a:off x="1543050" y="2666107"/>
            <a:ext cx="115252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AuthService</a:t>
            </a:r>
            <a:endParaRPr/>
          </a:p>
        </p:txBody>
      </p:sp>
      <p:sp>
        <p:nvSpPr>
          <p:cNvPr id="209" name="Google Shape;209;p21"/>
          <p:cNvSpPr txBox="1"/>
          <p:nvPr/>
        </p:nvSpPr>
        <p:spPr>
          <a:xfrm>
            <a:off x="914400" y="2940397"/>
            <a:ext cx="8382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FUNCTION</a:t>
            </a:r>
            <a:endParaRPr/>
          </a:p>
        </p:txBody>
      </p:sp>
      <p:sp>
        <p:nvSpPr>
          <p:cNvPr id="210" name="Google Shape;210;p21"/>
          <p:cNvSpPr txBox="1"/>
          <p:nvPr/>
        </p:nvSpPr>
        <p:spPr>
          <a:xfrm>
            <a:off x="1857375" y="2940397"/>
            <a:ext cx="22002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processForgotPassword</a:t>
            </a:r>
            <a:endParaRPr/>
          </a:p>
        </p:txBody>
      </p:sp>
      <p:sp>
        <p:nvSpPr>
          <p:cNvPr id="211" name="Google Shape;211;p21"/>
          <p:cNvSpPr txBox="1"/>
          <p:nvPr/>
        </p:nvSpPr>
        <p:spPr>
          <a:xfrm>
            <a:off x="1123950" y="3488977"/>
            <a:ext cx="2095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IF</a:t>
            </a:r>
            <a:endParaRPr/>
          </a:p>
        </p:txBody>
      </p:sp>
      <p:sp>
        <p:nvSpPr>
          <p:cNvPr id="212" name="Google Shape;212;p21"/>
          <p:cNvSpPr txBox="1"/>
          <p:nvPr/>
        </p:nvSpPr>
        <p:spPr>
          <a:xfrm>
            <a:off x="3114675" y="3488977"/>
            <a:ext cx="115252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THEN RETURN</a:t>
            </a:r>
            <a:endParaRPr/>
          </a:p>
        </p:txBody>
      </p:sp>
      <p:sp>
        <p:nvSpPr>
          <p:cNvPr id="213" name="Google Shape;213;p21"/>
          <p:cNvSpPr txBox="1"/>
          <p:nvPr/>
        </p:nvSpPr>
        <p:spPr>
          <a:xfrm>
            <a:off x="1123950" y="4586138"/>
            <a:ext cx="6286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RETURN</a:t>
            </a:r>
            <a:endParaRPr/>
          </a:p>
        </p:txBody>
      </p:sp>
      <p:sp>
        <p:nvSpPr>
          <p:cNvPr id="214" name="Google Shape;214;p21"/>
          <p:cNvSpPr txBox="1"/>
          <p:nvPr/>
        </p:nvSpPr>
        <p:spPr>
          <a:xfrm>
            <a:off x="914400" y="4860428"/>
            <a:ext cx="12573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FUNCTION</a:t>
            </a:r>
            <a:endParaRPr/>
          </a:p>
        </p:txBody>
      </p:sp>
      <p:sp>
        <p:nvSpPr>
          <p:cNvPr id="215" name="Google Shape;215;p21"/>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Forgot Password Logic</a:t>
            </a:r>
            <a:endParaRPr/>
          </a:p>
        </p:txBody>
      </p:sp>
      <p:sp>
        <p:nvSpPr>
          <p:cNvPr id="216" name="Google Shape;216;p21"/>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220"/>
        <p:cNvGrpSpPr/>
        <p:nvPr/>
      </p:nvGrpSpPr>
      <p:grpSpPr>
        <a:xfrm>
          <a:off x="0" y="0"/>
          <a:ext cx="0" cy="0"/>
          <a:chOff x="0" y="0"/>
          <a:chExt cx="0" cy="0"/>
        </a:xfrm>
      </p:grpSpPr>
      <p:pic>
        <p:nvPicPr>
          <p:cNvPr id="221" name="Google Shape;221;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2" name="Google Shape;222;p22" descr="image.png"/>
          <p:cNvPicPr preferRelativeResize="0"/>
          <p:nvPr/>
        </p:nvPicPr>
        <p:blipFill rotWithShape="1">
          <a:blip r:embed="rId4">
            <a:alphaModFix/>
          </a:blip>
          <a:srcRect/>
          <a:stretch/>
        </p:blipFill>
        <p:spPr>
          <a:xfrm>
            <a:off x="581025" y="2361307"/>
            <a:ext cx="11029950" cy="3040112"/>
          </a:xfrm>
          <a:prstGeom prst="rect">
            <a:avLst/>
          </a:prstGeom>
          <a:noFill/>
          <a:ln>
            <a:noFill/>
          </a:ln>
        </p:spPr>
      </p:pic>
      <p:sp>
        <p:nvSpPr>
          <p:cNvPr id="223" name="Google Shape;223;p22"/>
          <p:cNvSpPr txBox="1"/>
          <p:nvPr/>
        </p:nvSpPr>
        <p:spPr>
          <a:xfrm>
            <a:off x="914400" y="2666107"/>
            <a:ext cx="5238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CLASS</a:t>
            </a:r>
            <a:endParaRPr/>
          </a:p>
        </p:txBody>
      </p:sp>
      <p:sp>
        <p:nvSpPr>
          <p:cNvPr id="224" name="Google Shape;224;p22"/>
          <p:cNvSpPr txBox="1"/>
          <p:nvPr/>
        </p:nvSpPr>
        <p:spPr>
          <a:xfrm>
            <a:off x="1543050" y="2666107"/>
            <a:ext cx="115252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AuthService</a:t>
            </a:r>
            <a:endParaRPr/>
          </a:p>
        </p:txBody>
      </p:sp>
      <p:sp>
        <p:nvSpPr>
          <p:cNvPr id="225" name="Google Shape;225;p22"/>
          <p:cNvSpPr txBox="1"/>
          <p:nvPr/>
        </p:nvSpPr>
        <p:spPr>
          <a:xfrm>
            <a:off x="914400" y="2940397"/>
            <a:ext cx="8382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FUNCTION</a:t>
            </a:r>
            <a:endParaRPr/>
          </a:p>
        </p:txBody>
      </p:sp>
      <p:sp>
        <p:nvSpPr>
          <p:cNvPr id="226" name="Google Shape;226;p22"/>
          <p:cNvSpPr txBox="1"/>
          <p:nvPr/>
        </p:nvSpPr>
        <p:spPr>
          <a:xfrm>
            <a:off x="1857375" y="2940397"/>
            <a:ext cx="13620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resetPassword</a:t>
            </a:r>
            <a:endParaRPr/>
          </a:p>
        </p:txBody>
      </p:sp>
      <p:sp>
        <p:nvSpPr>
          <p:cNvPr id="227" name="Google Shape;227;p22"/>
          <p:cNvSpPr txBox="1"/>
          <p:nvPr/>
        </p:nvSpPr>
        <p:spPr>
          <a:xfrm>
            <a:off x="1123950" y="3488977"/>
            <a:ext cx="2095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IF</a:t>
            </a:r>
            <a:endParaRPr/>
          </a:p>
        </p:txBody>
      </p:sp>
      <p:sp>
        <p:nvSpPr>
          <p:cNvPr id="228" name="Google Shape;228;p22"/>
          <p:cNvSpPr txBox="1"/>
          <p:nvPr/>
        </p:nvSpPr>
        <p:spPr>
          <a:xfrm>
            <a:off x="4057650" y="3488977"/>
            <a:ext cx="115252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THEN RETURN</a:t>
            </a:r>
            <a:endParaRPr/>
          </a:p>
        </p:txBody>
      </p:sp>
      <p:sp>
        <p:nvSpPr>
          <p:cNvPr id="229" name="Google Shape;229;p22"/>
          <p:cNvSpPr txBox="1"/>
          <p:nvPr/>
        </p:nvSpPr>
        <p:spPr>
          <a:xfrm>
            <a:off x="3009900" y="4037558"/>
            <a:ext cx="4191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NULL</a:t>
            </a:r>
            <a:endParaRPr/>
          </a:p>
        </p:txBody>
      </p:sp>
      <p:sp>
        <p:nvSpPr>
          <p:cNvPr id="230" name="Google Shape;230;p22"/>
          <p:cNvSpPr txBox="1"/>
          <p:nvPr/>
        </p:nvSpPr>
        <p:spPr>
          <a:xfrm>
            <a:off x="1123950" y="4586138"/>
            <a:ext cx="6286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RETURN</a:t>
            </a:r>
            <a:endParaRPr/>
          </a:p>
        </p:txBody>
      </p:sp>
      <p:sp>
        <p:nvSpPr>
          <p:cNvPr id="231" name="Google Shape;231;p22"/>
          <p:cNvSpPr txBox="1"/>
          <p:nvPr/>
        </p:nvSpPr>
        <p:spPr>
          <a:xfrm>
            <a:off x="914400" y="4860428"/>
            <a:ext cx="12573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FUNCTION</a:t>
            </a:r>
            <a:endParaRPr/>
          </a:p>
        </p:txBody>
      </p:sp>
      <p:sp>
        <p:nvSpPr>
          <p:cNvPr id="232" name="Google Shape;232;p22"/>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Reset Password Logic</a:t>
            </a:r>
            <a:endParaRPr/>
          </a:p>
        </p:txBody>
      </p:sp>
      <p:sp>
        <p:nvSpPr>
          <p:cNvPr id="233" name="Google Shape;233;p22"/>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38" name="Google Shape;238;p23" descr="can u make this slide in form of a data flow operation "/>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24" descr="can u create for the  signup data flow and sign in data flow and forgot data flow in single slide "/>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247"/>
        <p:cNvGrpSpPr/>
        <p:nvPr/>
      </p:nvGrpSpPr>
      <p:grpSpPr>
        <a:xfrm>
          <a:off x="0" y="0"/>
          <a:ext cx="0" cy="0"/>
          <a:chOff x="0" y="0"/>
          <a:chExt cx="0" cy="0"/>
        </a:xfrm>
      </p:grpSpPr>
      <p:pic>
        <p:nvPicPr>
          <p:cNvPr id="248" name="Google Shape;248;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9" name="Google Shape;249;p25" descr="image.png"/>
          <p:cNvPicPr preferRelativeResize="0"/>
          <p:nvPr/>
        </p:nvPicPr>
        <p:blipFill rotWithShape="1">
          <a:blip r:embed="rId4">
            <a:alphaModFix/>
          </a:blip>
          <a:srcRect/>
          <a:stretch/>
        </p:blipFill>
        <p:spPr>
          <a:xfrm>
            <a:off x="581025" y="2695575"/>
            <a:ext cx="3486150" cy="3067050"/>
          </a:xfrm>
          <a:prstGeom prst="rect">
            <a:avLst/>
          </a:prstGeom>
          <a:noFill/>
          <a:ln>
            <a:noFill/>
          </a:ln>
        </p:spPr>
      </p:pic>
      <p:pic>
        <p:nvPicPr>
          <p:cNvPr id="250" name="Google Shape;250;p25" descr="image.png"/>
          <p:cNvPicPr preferRelativeResize="0"/>
          <p:nvPr/>
        </p:nvPicPr>
        <p:blipFill rotWithShape="1">
          <a:blip r:embed="rId5">
            <a:alphaModFix/>
          </a:blip>
          <a:srcRect/>
          <a:stretch/>
        </p:blipFill>
        <p:spPr>
          <a:xfrm>
            <a:off x="4352925" y="2695575"/>
            <a:ext cx="3486150" cy="3067050"/>
          </a:xfrm>
          <a:prstGeom prst="rect">
            <a:avLst/>
          </a:prstGeom>
          <a:noFill/>
          <a:ln>
            <a:noFill/>
          </a:ln>
        </p:spPr>
      </p:pic>
      <p:pic>
        <p:nvPicPr>
          <p:cNvPr id="251" name="Google Shape;251;p25" descr="image.png"/>
          <p:cNvPicPr preferRelativeResize="0"/>
          <p:nvPr/>
        </p:nvPicPr>
        <p:blipFill rotWithShape="1">
          <a:blip r:embed="rId6">
            <a:alphaModFix/>
          </a:blip>
          <a:srcRect/>
          <a:stretch/>
        </p:blipFill>
        <p:spPr>
          <a:xfrm>
            <a:off x="8124825" y="2695575"/>
            <a:ext cx="3486150" cy="3067050"/>
          </a:xfrm>
          <a:prstGeom prst="rect">
            <a:avLst/>
          </a:prstGeom>
          <a:noFill/>
          <a:ln>
            <a:noFill/>
          </a:ln>
        </p:spPr>
      </p:pic>
      <p:sp>
        <p:nvSpPr>
          <p:cNvPr id="252" name="Google Shape;252;p25"/>
          <p:cNvSpPr txBox="1"/>
          <p:nvPr/>
        </p:nvSpPr>
        <p:spPr>
          <a:xfrm>
            <a:off x="3268027" y="1686394"/>
            <a:ext cx="5800725" cy="108491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dirty="0">
                <a:solidFill>
                  <a:srgbClr val="CBD5E1"/>
                </a:solidFill>
                <a:latin typeface="Lato"/>
                <a:ea typeface="Lato"/>
                <a:cs typeface="Lato"/>
                <a:sym typeface="Lato"/>
              </a:rPr>
              <a:t>Purpose: Track stock levels and prevent supply chain disruption.</a:t>
            </a:r>
          </a:p>
          <a:p>
            <a:pPr marL="0" marR="0" lvl="0" indent="0" algn="l" rtl="0">
              <a:lnSpc>
                <a:spcPct val="150000"/>
              </a:lnSpc>
              <a:spcBef>
                <a:spcPts val="0"/>
              </a:spcBef>
              <a:spcAft>
                <a:spcPts val="0"/>
              </a:spcAft>
              <a:buNone/>
            </a:pPr>
            <a:endParaRPr dirty="0"/>
          </a:p>
        </p:txBody>
      </p:sp>
      <p:sp>
        <p:nvSpPr>
          <p:cNvPr id="253" name="Google Shape;253;p25"/>
          <p:cNvSpPr txBox="1"/>
          <p:nvPr/>
        </p:nvSpPr>
        <p:spPr>
          <a:xfrm>
            <a:off x="876300" y="3724275"/>
            <a:ext cx="304038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D8B4FE"/>
                </a:solidFill>
                <a:latin typeface="Poppins"/>
                <a:ea typeface="Poppins"/>
                <a:cs typeface="Poppins"/>
                <a:sym typeface="Poppins"/>
              </a:rPr>
              <a:t>SKU Validation</a:t>
            </a:r>
            <a:endParaRPr/>
          </a:p>
        </p:txBody>
      </p:sp>
      <p:sp>
        <p:nvSpPr>
          <p:cNvPr id="254" name="Google Shape;254;p25"/>
          <p:cNvSpPr txBox="1"/>
          <p:nvPr/>
        </p:nvSpPr>
        <p:spPr>
          <a:xfrm>
            <a:off x="876300" y="4324350"/>
            <a:ext cx="28956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CBD5E1"/>
                </a:solidFill>
                <a:latin typeface="Lato"/>
                <a:ea typeface="Lato"/>
                <a:cs typeface="Lato"/>
                <a:sym typeface="Lato"/>
              </a:rPr>
              <a:t>Prevent item duplication using unique SKU identifiers.</a:t>
            </a:r>
            <a:endParaRPr/>
          </a:p>
        </p:txBody>
      </p:sp>
      <p:sp>
        <p:nvSpPr>
          <p:cNvPr id="255" name="Google Shape;255;p25"/>
          <p:cNvSpPr txBox="1"/>
          <p:nvPr/>
        </p:nvSpPr>
        <p:spPr>
          <a:xfrm>
            <a:off x="4648200" y="3724275"/>
            <a:ext cx="304038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D8B4FE"/>
                </a:solidFill>
                <a:latin typeface="Poppins"/>
                <a:ea typeface="Poppins"/>
                <a:cs typeface="Poppins"/>
                <a:sym typeface="Poppins"/>
              </a:rPr>
              <a:t>Real-time Tracking</a:t>
            </a:r>
            <a:endParaRPr/>
          </a:p>
        </p:txBody>
      </p:sp>
      <p:sp>
        <p:nvSpPr>
          <p:cNvPr id="256" name="Google Shape;256;p25"/>
          <p:cNvSpPr txBox="1"/>
          <p:nvPr/>
        </p:nvSpPr>
        <p:spPr>
          <a:xfrm>
            <a:off x="4648200" y="4781550"/>
            <a:ext cx="28956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CBD5E1"/>
                </a:solidFill>
                <a:latin typeface="Lato"/>
                <a:ea typeface="Lato"/>
                <a:cs typeface="Lato"/>
                <a:sym typeface="Lato"/>
              </a:rPr>
              <a:t>Transactional Stock In/Out updates with historical logging.</a:t>
            </a:r>
            <a:endParaRPr/>
          </a:p>
        </p:txBody>
      </p:sp>
      <p:sp>
        <p:nvSpPr>
          <p:cNvPr id="257" name="Google Shape;257;p25"/>
          <p:cNvSpPr txBox="1"/>
          <p:nvPr/>
        </p:nvSpPr>
        <p:spPr>
          <a:xfrm>
            <a:off x="8420100" y="3724275"/>
            <a:ext cx="304038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D8B4FE"/>
                </a:solidFill>
                <a:latin typeface="Poppins"/>
                <a:ea typeface="Poppins"/>
                <a:cs typeface="Poppins"/>
                <a:sym typeface="Poppins"/>
              </a:rPr>
              <a:t>Safety Stock</a:t>
            </a:r>
            <a:endParaRPr/>
          </a:p>
        </p:txBody>
      </p:sp>
      <p:sp>
        <p:nvSpPr>
          <p:cNvPr id="258" name="Google Shape;258;p25"/>
          <p:cNvSpPr txBox="1"/>
          <p:nvPr/>
        </p:nvSpPr>
        <p:spPr>
          <a:xfrm>
            <a:off x="8420100" y="4324350"/>
            <a:ext cx="28956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CBD5E1"/>
                </a:solidFill>
                <a:latin typeface="Lato"/>
                <a:ea typeface="Lato"/>
                <a:cs typeface="Lato"/>
                <a:sym typeface="Lato"/>
              </a:rPr>
              <a:t>Automated alerts when inventory falls below minimum levels.</a:t>
            </a:r>
            <a:endParaRPr/>
          </a:p>
        </p:txBody>
      </p:sp>
      <p:pic>
        <p:nvPicPr>
          <p:cNvPr id="259" name="Google Shape;259;p25" descr="image.png"/>
          <p:cNvPicPr preferRelativeResize="0"/>
          <p:nvPr/>
        </p:nvPicPr>
        <p:blipFill rotWithShape="1">
          <a:blip r:embed="rId7">
            <a:alphaModFix/>
          </a:blip>
          <a:srcRect/>
          <a:stretch/>
        </p:blipFill>
        <p:spPr>
          <a:xfrm>
            <a:off x="2095500" y="3038475"/>
            <a:ext cx="457200" cy="457200"/>
          </a:xfrm>
          <a:prstGeom prst="rect">
            <a:avLst/>
          </a:prstGeom>
          <a:noFill/>
          <a:ln>
            <a:noFill/>
          </a:ln>
        </p:spPr>
      </p:pic>
      <p:pic>
        <p:nvPicPr>
          <p:cNvPr id="260" name="Google Shape;260;p25" descr="image.png"/>
          <p:cNvPicPr preferRelativeResize="0"/>
          <p:nvPr/>
        </p:nvPicPr>
        <p:blipFill rotWithShape="1">
          <a:blip r:embed="rId8">
            <a:alphaModFix/>
          </a:blip>
          <a:srcRect/>
          <a:stretch/>
        </p:blipFill>
        <p:spPr>
          <a:xfrm>
            <a:off x="5810250" y="3038475"/>
            <a:ext cx="571500" cy="457200"/>
          </a:xfrm>
          <a:prstGeom prst="rect">
            <a:avLst/>
          </a:prstGeom>
          <a:noFill/>
          <a:ln>
            <a:noFill/>
          </a:ln>
        </p:spPr>
      </p:pic>
      <p:pic>
        <p:nvPicPr>
          <p:cNvPr id="261" name="Google Shape;261;p25" descr="image.png"/>
          <p:cNvPicPr preferRelativeResize="0"/>
          <p:nvPr/>
        </p:nvPicPr>
        <p:blipFill rotWithShape="1">
          <a:blip r:embed="rId9">
            <a:alphaModFix/>
          </a:blip>
          <a:srcRect/>
          <a:stretch/>
        </p:blipFill>
        <p:spPr>
          <a:xfrm>
            <a:off x="9639300" y="3038475"/>
            <a:ext cx="457200" cy="457200"/>
          </a:xfrm>
          <a:prstGeom prst="rect">
            <a:avLst/>
          </a:prstGeom>
          <a:noFill/>
          <a:ln>
            <a:noFill/>
          </a:ln>
        </p:spPr>
      </p:pic>
      <p:sp>
        <p:nvSpPr>
          <p:cNvPr id="262" name="Google Shape;262;p25"/>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Module 2: Inventory Management</a:t>
            </a:r>
            <a:endParaRPr/>
          </a:p>
        </p:txBody>
      </p:sp>
      <p:sp>
        <p:nvSpPr>
          <p:cNvPr id="263" name="Google Shape;263;p25"/>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267"/>
        <p:cNvGrpSpPr/>
        <p:nvPr/>
      </p:nvGrpSpPr>
      <p:grpSpPr>
        <a:xfrm>
          <a:off x="0" y="0"/>
          <a:ext cx="0" cy="0"/>
          <a:chOff x="0" y="0"/>
          <a:chExt cx="0" cy="0"/>
        </a:xfrm>
      </p:grpSpPr>
      <p:pic>
        <p:nvPicPr>
          <p:cNvPr id="268" name="Google Shape;268;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9" name="Google Shape;269;p26" descr="image.png"/>
          <p:cNvPicPr preferRelativeResize="0"/>
          <p:nvPr/>
        </p:nvPicPr>
        <p:blipFill rotWithShape="1">
          <a:blip r:embed="rId4">
            <a:alphaModFix/>
          </a:blip>
          <a:srcRect/>
          <a:stretch/>
        </p:blipFill>
        <p:spPr>
          <a:xfrm>
            <a:off x="581025" y="2224236"/>
            <a:ext cx="5276850" cy="3314402"/>
          </a:xfrm>
          <a:prstGeom prst="rect">
            <a:avLst/>
          </a:prstGeom>
          <a:noFill/>
          <a:ln>
            <a:noFill/>
          </a:ln>
        </p:spPr>
      </p:pic>
      <p:sp>
        <p:nvSpPr>
          <p:cNvPr id="270" name="Google Shape;270;p26"/>
          <p:cNvSpPr txBox="1"/>
          <p:nvPr/>
        </p:nvSpPr>
        <p:spPr>
          <a:xfrm>
            <a:off x="914400" y="2529036"/>
            <a:ext cx="5238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CLASS</a:t>
            </a:r>
            <a:endParaRPr/>
          </a:p>
        </p:txBody>
      </p:sp>
      <p:sp>
        <p:nvSpPr>
          <p:cNvPr id="271" name="Google Shape;271;p26"/>
          <p:cNvSpPr txBox="1"/>
          <p:nvPr/>
        </p:nvSpPr>
        <p:spPr>
          <a:xfrm>
            <a:off x="1543050" y="2529036"/>
            <a:ext cx="73342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Product</a:t>
            </a:r>
            <a:endParaRPr/>
          </a:p>
        </p:txBody>
      </p:sp>
      <p:sp>
        <p:nvSpPr>
          <p:cNvPr id="272" name="Google Shape;272;p26"/>
          <p:cNvSpPr txBox="1"/>
          <p:nvPr/>
        </p:nvSpPr>
        <p:spPr>
          <a:xfrm>
            <a:off x="2171700" y="2803326"/>
            <a:ext cx="5238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64748B"/>
                </a:solidFill>
                <a:latin typeface="JetBrains Mono"/>
                <a:ea typeface="JetBrains Mono"/>
                <a:cs typeface="JetBrains Mono"/>
                <a:sym typeface="JetBrains Mono"/>
              </a:rPr>
              <a:t>// PK</a:t>
            </a:r>
            <a:endParaRPr/>
          </a:p>
        </p:txBody>
      </p:sp>
      <p:sp>
        <p:nvSpPr>
          <p:cNvPr id="273" name="Google Shape;273;p26"/>
          <p:cNvSpPr txBox="1"/>
          <p:nvPr/>
        </p:nvSpPr>
        <p:spPr>
          <a:xfrm>
            <a:off x="1543050" y="3077616"/>
            <a:ext cx="9429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64748B"/>
                </a:solidFill>
                <a:latin typeface="JetBrains Mono"/>
                <a:ea typeface="JetBrains Mono"/>
                <a:cs typeface="JetBrains Mono"/>
                <a:sym typeface="JetBrains Mono"/>
              </a:rPr>
              <a:t>// Unique</a:t>
            </a:r>
            <a:endParaRPr/>
          </a:p>
        </p:txBody>
      </p:sp>
      <p:sp>
        <p:nvSpPr>
          <p:cNvPr id="274" name="Google Shape;274;p26"/>
          <p:cNvSpPr txBox="1"/>
          <p:nvPr/>
        </p:nvSpPr>
        <p:spPr>
          <a:xfrm>
            <a:off x="914400" y="4997648"/>
            <a:ext cx="9429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CLASS</a:t>
            </a:r>
            <a:endParaRPr/>
          </a:p>
        </p:txBody>
      </p:sp>
      <p:sp>
        <p:nvSpPr>
          <p:cNvPr id="275" name="Google Shape;275;p26"/>
          <p:cNvSpPr txBox="1"/>
          <p:nvPr/>
        </p:nvSpPr>
        <p:spPr>
          <a:xfrm>
            <a:off x="7143750" y="2376636"/>
            <a:ext cx="44672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CBD5E1"/>
                </a:solidFill>
                <a:latin typeface="Lato"/>
                <a:ea typeface="Lato"/>
                <a:cs typeface="Lato"/>
                <a:sym typeface="Lato"/>
              </a:rPr>
              <a:t>SKU:</a:t>
            </a:r>
            <a:r>
              <a:rPr lang="en-US" sz="1425" b="0" i="0" u="none" strike="noStrike" cap="none">
                <a:solidFill>
                  <a:srgbClr val="CBD5E1"/>
                </a:solidFill>
                <a:latin typeface="Lato"/>
                <a:ea typeface="Lato"/>
                <a:cs typeface="Lato"/>
                <a:sym typeface="Lato"/>
              </a:rPr>
              <a:t> Primary unique identifier.</a:t>
            </a:r>
            <a:endParaRPr/>
          </a:p>
        </p:txBody>
      </p:sp>
      <p:sp>
        <p:nvSpPr>
          <p:cNvPr id="276" name="Google Shape;276;p26"/>
          <p:cNvSpPr txBox="1"/>
          <p:nvPr/>
        </p:nvSpPr>
        <p:spPr>
          <a:xfrm>
            <a:off x="7143750" y="2819548"/>
            <a:ext cx="44672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CBD5E1"/>
                </a:solidFill>
                <a:latin typeface="Lato"/>
                <a:ea typeface="Lato"/>
                <a:cs typeface="Lato"/>
                <a:sym typeface="Lato"/>
              </a:rPr>
              <a:t>Stock:</a:t>
            </a:r>
            <a:r>
              <a:rPr lang="en-US" sz="1425" b="0" i="0" u="none" strike="noStrike" cap="none">
                <a:solidFill>
                  <a:srgbClr val="CBD5E1"/>
                </a:solidFill>
                <a:latin typeface="Lato"/>
                <a:ea typeface="Lato"/>
                <a:cs typeface="Lato"/>
                <a:sym typeface="Lato"/>
              </a:rPr>
              <a:t> Tracked in real-time.</a:t>
            </a:r>
            <a:endParaRPr/>
          </a:p>
        </p:txBody>
      </p:sp>
      <p:sp>
        <p:nvSpPr>
          <p:cNvPr id="277" name="Google Shape;277;p26"/>
          <p:cNvSpPr txBox="1"/>
          <p:nvPr/>
        </p:nvSpPr>
        <p:spPr>
          <a:xfrm>
            <a:off x="7143750" y="3262461"/>
            <a:ext cx="4467225"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CBD5E1"/>
                </a:solidFill>
                <a:latin typeface="Lato"/>
                <a:ea typeface="Lato"/>
                <a:cs typeface="Lato"/>
                <a:sym typeface="Lato"/>
              </a:rPr>
              <a:t>Alerts:</a:t>
            </a:r>
            <a:r>
              <a:rPr lang="en-US" sz="1425" b="0" i="0" u="none" strike="noStrike" cap="none">
                <a:solidFill>
                  <a:srgbClr val="CBD5E1"/>
                </a:solidFill>
                <a:latin typeface="Lato"/>
                <a:ea typeface="Lato"/>
                <a:cs typeface="Lato"/>
                <a:sym typeface="Lato"/>
              </a:rPr>
              <a:t> Driven by minStockLevel.</a:t>
            </a:r>
            <a:endParaRPr/>
          </a:p>
        </p:txBody>
      </p:sp>
      <p:pic>
        <p:nvPicPr>
          <p:cNvPr id="278" name="Google Shape;278;p26" descr="image.png"/>
          <p:cNvPicPr preferRelativeResize="0"/>
          <p:nvPr/>
        </p:nvPicPr>
        <p:blipFill rotWithShape="1">
          <a:blip r:embed="rId5">
            <a:alphaModFix/>
          </a:blip>
          <a:srcRect/>
          <a:stretch/>
        </p:blipFill>
        <p:spPr>
          <a:xfrm>
            <a:off x="6715125" y="2409973"/>
            <a:ext cx="209550" cy="219075"/>
          </a:xfrm>
          <a:prstGeom prst="rect">
            <a:avLst/>
          </a:prstGeom>
          <a:noFill/>
          <a:ln>
            <a:noFill/>
          </a:ln>
        </p:spPr>
      </p:pic>
      <p:pic>
        <p:nvPicPr>
          <p:cNvPr id="279" name="Google Shape;279;p26" descr="image.png"/>
          <p:cNvPicPr preferRelativeResize="0"/>
          <p:nvPr/>
        </p:nvPicPr>
        <p:blipFill rotWithShape="1">
          <a:blip r:embed="rId6">
            <a:alphaModFix/>
          </a:blip>
          <a:srcRect/>
          <a:stretch/>
        </p:blipFill>
        <p:spPr>
          <a:xfrm>
            <a:off x="6715125" y="2852886"/>
            <a:ext cx="209550" cy="219075"/>
          </a:xfrm>
          <a:prstGeom prst="rect">
            <a:avLst/>
          </a:prstGeom>
          <a:noFill/>
          <a:ln>
            <a:noFill/>
          </a:ln>
        </p:spPr>
      </p:pic>
      <p:pic>
        <p:nvPicPr>
          <p:cNvPr id="280" name="Google Shape;280;p26" descr="image.png"/>
          <p:cNvPicPr preferRelativeResize="0"/>
          <p:nvPr/>
        </p:nvPicPr>
        <p:blipFill rotWithShape="1">
          <a:blip r:embed="rId7">
            <a:alphaModFix/>
          </a:blip>
          <a:srcRect/>
          <a:stretch/>
        </p:blipFill>
        <p:spPr>
          <a:xfrm>
            <a:off x="6715125" y="3295798"/>
            <a:ext cx="180975" cy="219075"/>
          </a:xfrm>
          <a:prstGeom prst="rect">
            <a:avLst/>
          </a:prstGeom>
          <a:noFill/>
          <a:ln>
            <a:noFill/>
          </a:ln>
        </p:spPr>
      </p:pic>
      <p:sp>
        <p:nvSpPr>
          <p:cNvPr id="281" name="Google Shape;281;p26"/>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Product Entity Model</a:t>
            </a:r>
            <a:endParaRPr/>
          </a:p>
        </p:txBody>
      </p:sp>
      <p:sp>
        <p:nvSpPr>
          <p:cNvPr id="282" name="Google Shape;282;p26"/>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286"/>
        <p:cNvGrpSpPr/>
        <p:nvPr/>
      </p:nvGrpSpPr>
      <p:grpSpPr>
        <a:xfrm>
          <a:off x="0" y="0"/>
          <a:ext cx="0" cy="0"/>
          <a:chOff x="0" y="0"/>
          <a:chExt cx="0" cy="0"/>
        </a:xfrm>
      </p:grpSpPr>
      <p:pic>
        <p:nvPicPr>
          <p:cNvPr id="287" name="Google Shape;287;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8" name="Google Shape;288;p27" descr="image.png"/>
          <p:cNvPicPr preferRelativeResize="0"/>
          <p:nvPr/>
        </p:nvPicPr>
        <p:blipFill rotWithShape="1">
          <a:blip r:embed="rId4">
            <a:alphaModFix/>
          </a:blip>
          <a:srcRect/>
          <a:stretch/>
        </p:blipFill>
        <p:spPr>
          <a:xfrm>
            <a:off x="581025" y="2087016"/>
            <a:ext cx="11029950" cy="3588692"/>
          </a:xfrm>
          <a:prstGeom prst="rect">
            <a:avLst/>
          </a:prstGeom>
          <a:noFill/>
          <a:ln>
            <a:noFill/>
          </a:ln>
        </p:spPr>
      </p:pic>
      <p:sp>
        <p:nvSpPr>
          <p:cNvPr id="289" name="Google Shape;289;p27"/>
          <p:cNvSpPr txBox="1"/>
          <p:nvPr/>
        </p:nvSpPr>
        <p:spPr>
          <a:xfrm>
            <a:off x="914400" y="2391816"/>
            <a:ext cx="5238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CLASS</a:t>
            </a:r>
            <a:endParaRPr/>
          </a:p>
        </p:txBody>
      </p:sp>
      <p:sp>
        <p:nvSpPr>
          <p:cNvPr id="290" name="Google Shape;290;p27"/>
          <p:cNvSpPr txBox="1"/>
          <p:nvPr/>
        </p:nvSpPr>
        <p:spPr>
          <a:xfrm>
            <a:off x="1543050" y="2391816"/>
            <a:ext cx="17811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ProductController</a:t>
            </a:r>
            <a:endParaRPr/>
          </a:p>
        </p:txBody>
      </p:sp>
      <p:sp>
        <p:nvSpPr>
          <p:cNvPr id="291" name="Google Shape;291;p27"/>
          <p:cNvSpPr txBox="1"/>
          <p:nvPr/>
        </p:nvSpPr>
        <p:spPr>
          <a:xfrm>
            <a:off x="914400" y="2666107"/>
            <a:ext cx="8382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FUNCTION</a:t>
            </a:r>
            <a:endParaRPr/>
          </a:p>
        </p:txBody>
      </p:sp>
      <p:sp>
        <p:nvSpPr>
          <p:cNvPr id="292" name="Google Shape;292;p27"/>
          <p:cNvSpPr txBox="1"/>
          <p:nvPr/>
        </p:nvSpPr>
        <p:spPr>
          <a:xfrm>
            <a:off x="1857375" y="2666107"/>
            <a:ext cx="10477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addProduct</a:t>
            </a:r>
            <a:endParaRPr/>
          </a:p>
        </p:txBody>
      </p:sp>
      <p:sp>
        <p:nvSpPr>
          <p:cNvPr id="293" name="Google Shape;293;p27"/>
          <p:cNvSpPr txBox="1"/>
          <p:nvPr/>
        </p:nvSpPr>
        <p:spPr>
          <a:xfrm>
            <a:off x="914400" y="3214687"/>
            <a:ext cx="12573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FUNCTION</a:t>
            </a:r>
            <a:endParaRPr/>
          </a:p>
        </p:txBody>
      </p:sp>
      <p:sp>
        <p:nvSpPr>
          <p:cNvPr id="294" name="Google Shape;294;p27"/>
          <p:cNvSpPr txBox="1"/>
          <p:nvPr/>
        </p:nvSpPr>
        <p:spPr>
          <a:xfrm>
            <a:off x="914400" y="3488977"/>
            <a:ext cx="8382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FUNCTION</a:t>
            </a:r>
            <a:endParaRPr/>
          </a:p>
        </p:txBody>
      </p:sp>
      <p:sp>
        <p:nvSpPr>
          <p:cNvPr id="295" name="Google Shape;295;p27"/>
          <p:cNvSpPr txBox="1"/>
          <p:nvPr/>
        </p:nvSpPr>
        <p:spPr>
          <a:xfrm>
            <a:off x="1857375" y="3488977"/>
            <a:ext cx="73342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stockIn</a:t>
            </a:r>
            <a:endParaRPr/>
          </a:p>
        </p:txBody>
      </p:sp>
      <p:sp>
        <p:nvSpPr>
          <p:cNvPr id="296" name="Google Shape;296;p27"/>
          <p:cNvSpPr txBox="1"/>
          <p:nvPr/>
        </p:nvSpPr>
        <p:spPr>
          <a:xfrm>
            <a:off x="914400" y="4037558"/>
            <a:ext cx="12573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FUNCTION</a:t>
            </a:r>
            <a:endParaRPr/>
          </a:p>
        </p:txBody>
      </p:sp>
      <p:sp>
        <p:nvSpPr>
          <p:cNvPr id="297" name="Google Shape;297;p27"/>
          <p:cNvSpPr txBox="1"/>
          <p:nvPr/>
        </p:nvSpPr>
        <p:spPr>
          <a:xfrm>
            <a:off x="914400" y="4311848"/>
            <a:ext cx="8382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FUNCTION</a:t>
            </a:r>
            <a:endParaRPr/>
          </a:p>
        </p:txBody>
      </p:sp>
      <p:sp>
        <p:nvSpPr>
          <p:cNvPr id="298" name="Google Shape;298;p27"/>
          <p:cNvSpPr txBox="1"/>
          <p:nvPr/>
        </p:nvSpPr>
        <p:spPr>
          <a:xfrm>
            <a:off x="1857375" y="4311848"/>
            <a:ext cx="8382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stockOut</a:t>
            </a:r>
            <a:endParaRPr/>
          </a:p>
        </p:txBody>
      </p:sp>
      <p:sp>
        <p:nvSpPr>
          <p:cNvPr id="299" name="Google Shape;299;p27"/>
          <p:cNvSpPr txBox="1"/>
          <p:nvPr/>
        </p:nvSpPr>
        <p:spPr>
          <a:xfrm>
            <a:off x="914400" y="4860428"/>
            <a:ext cx="12573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FUNCTION</a:t>
            </a:r>
            <a:endParaRPr/>
          </a:p>
        </p:txBody>
      </p:sp>
      <p:sp>
        <p:nvSpPr>
          <p:cNvPr id="300" name="Google Shape;300;p27"/>
          <p:cNvSpPr txBox="1"/>
          <p:nvPr/>
        </p:nvSpPr>
        <p:spPr>
          <a:xfrm>
            <a:off x="914400" y="5134719"/>
            <a:ext cx="9429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CLASS</a:t>
            </a:r>
            <a:endParaRPr/>
          </a:p>
        </p:txBody>
      </p:sp>
      <p:sp>
        <p:nvSpPr>
          <p:cNvPr id="301" name="Google Shape;301;p27"/>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Product Controller Operations</a:t>
            </a:r>
            <a:endParaRPr/>
          </a:p>
        </p:txBody>
      </p:sp>
      <p:sp>
        <p:nvSpPr>
          <p:cNvPr id="302" name="Google Shape;302;p27"/>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306"/>
        <p:cNvGrpSpPr/>
        <p:nvPr/>
      </p:nvGrpSpPr>
      <p:grpSpPr>
        <a:xfrm>
          <a:off x="0" y="0"/>
          <a:ext cx="0" cy="0"/>
          <a:chOff x="0" y="0"/>
          <a:chExt cx="0" cy="0"/>
        </a:xfrm>
      </p:grpSpPr>
      <p:pic>
        <p:nvPicPr>
          <p:cNvPr id="307" name="Google Shape;307;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8" name="Google Shape;308;p28" descr="image.png"/>
          <p:cNvPicPr preferRelativeResize="0"/>
          <p:nvPr/>
        </p:nvPicPr>
        <p:blipFill rotWithShape="1">
          <a:blip r:embed="rId4">
            <a:alphaModFix/>
          </a:blip>
          <a:srcRect/>
          <a:stretch/>
        </p:blipFill>
        <p:spPr>
          <a:xfrm>
            <a:off x="581025" y="2361307"/>
            <a:ext cx="11029950" cy="3040112"/>
          </a:xfrm>
          <a:prstGeom prst="rect">
            <a:avLst/>
          </a:prstGeom>
          <a:noFill/>
          <a:ln>
            <a:noFill/>
          </a:ln>
        </p:spPr>
      </p:pic>
      <p:sp>
        <p:nvSpPr>
          <p:cNvPr id="309" name="Google Shape;309;p28"/>
          <p:cNvSpPr txBox="1"/>
          <p:nvPr/>
        </p:nvSpPr>
        <p:spPr>
          <a:xfrm>
            <a:off x="914400" y="2666107"/>
            <a:ext cx="523875"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CLASS</a:t>
            </a:r>
            <a:endParaRPr/>
          </a:p>
        </p:txBody>
      </p:sp>
      <p:sp>
        <p:nvSpPr>
          <p:cNvPr id="310" name="Google Shape;310;p28"/>
          <p:cNvSpPr txBox="1"/>
          <p:nvPr/>
        </p:nvSpPr>
        <p:spPr>
          <a:xfrm>
            <a:off x="1543050" y="2666107"/>
            <a:ext cx="14668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ProductService</a:t>
            </a:r>
            <a:endParaRPr/>
          </a:p>
        </p:txBody>
      </p:sp>
      <p:sp>
        <p:nvSpPr>
          <p:cNvPr id="311" name="Google Shape;311;p28"/>
          <p:cNvSpPr txBox="1"/>
          <p:nvPr/>
        </p:nvSpPr>
        <p:spPr>
          <a:xfrm>
            <a:off x="914400" y="2940397"/>
            <a:ext cx="8382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FUNCTION</a:t>
            </a:r>
            <a:endParaRPr/>
          </a:p>
        </p:txBody>
      </p:sp>
      <p:sp>
        <p:nvSpPr>
          <p:cNvPr id="312" name="Google Shape;312;p28"/>
          <p:cNvSpPr txBox="1"/>
          <p:nvPr/>
        </p:nvSpPr>
        <p:spPr>
          <a:xfrm>
            <a:off x="1857375" y="2940397"/>
            <a:ext cx="10477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22D3EE"/>
                </a:solidFill>
                <a:latin typeface="JetBrains Mono"/>
                <a:ea typeface="JetBrains Mono"/>
                <a:cs typeface="JetBrains Mono"/>
                <a:sym typeface="JetBrains Mono"/>
              </a:rPr>
              <a:t>addProduct</a:t>
            </a:r>
            <a:endParaRPr/>
          </a:p>
        </p:txBody>
      </p:sp>
      <p:sp>
        <p:nvSpPr>
          <p:cNvPr id="313" name="Google Shape;313;p28"/>
          <p:cNvSpPr txBox="1"/>
          <p:nvPr/>
        </p:nvSpPr>
        <p:spPr>
          <a:xfrm>
            <a:off x="1123950" y="3214687"/>
            <a:ext cx="2095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IF</a:t>
            </a:r>
            <a:endParaRPr/>
          </a:p>
        </p:txBody>
      </p:sp>
      <p:sp>
        <p:nvSpPr>
          <p:cNvPr id="314" name="Google Shape;314;p28"/>
          <p:cNvSpPr txBox="1"/>
          <p:nvPr/>
        </p:nvSpPr>
        <p:spPr>
          <a:xfrm>
            <a:off x="5419725" y="3214687"/>
            <a:ext cx="4191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THEN</a:t>
            </a:r>
            <a:endParaRPr/>
          </a:p>
        </p:txBody>
      </p:sp>
      <p:sp>
        <p:nvSpPr>
          <p:cNvPr id="315" name="Google Shape;315;p28"/>
          <p:cNvSpPr txBox="1"/>
          <p:nvPr/>
        </p:nvSpPr>
        <p:spPr>
          <a:xfrm>
            <a:off x="1333500" y="3488977"/>
            <a:ext cx="6286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RETURN</a:t>
            </a:r>
            <a:endParaRPr/>
          </a:p>
        </p:txBody>
      </p:sp>
      <p:sp>
        <p:nvSpPr>
          <p:cNvPr id="316" name="Google Shape;316;p28"/>
          <p:cNvSpPr txBox="1"/>
          <p:nvPr/>
        </p:nvSpPr>
        <p:spPr>
          <a:xfrm>
            <a:off x="1123950" y="4586138"/>
            <a:ext cx="62865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RETURN</a:t>
            </a:r>
            <a:endParaRPr/>
          </a:p>
        </p:txBody>
      </p:sp>
      <p:sp>
        <p:nvSpPr>
          <p:cNvPr id="317" name="Google Shape;317;p28"/>
          <p:cNvSpPr txBox="1"/>
          <p:nvPr/>
        </p:nvSpPr>
        <p:spPr>
          <a:xfrm>
            <a:off x="914400" y="4860428"/>
            <a:ext cx="1257300" cy="21907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F472B6"/>
                </a:solidFill>
                <a:latin typeface="JetBrains Mono"/>
                <a:ea typeface="JetBrains Mono"/>
                <a:cs typeface="JetBrains Mono"/>
                <a:sym typeface="JetBrains Mono"/>
              </a:rPr>
              <a:t>END FUNCTION</a:t>
            </a:r>
            <a:endParaRPr/>
          </a:p>
        </p:txBody>
      </p:sp>
      <p:sp>
        <p:nvSpPr>
          <p:cNvPr id="318" name="Google Shape;318;p28"/>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Product Service Logic</a:t>
            </a:r>
            <a:endParaRPr/>
          </a:p>
        </p:txBody>
      </p:sp>
      <p:sp>
        <p:nvSpPr>
          <p:cNvPr id="319" name="Google Shape;319;p28"/>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323"/>
        <p:cNvGrpSpPr/>
        <p:nvPr/>
      </p:nvGrpSpPr>
      <p:grpSpPr>
        <a:xfrm>
          <a:off x="0" y="0"/>
          <a:ext cx="0" cy="0"/>
          <a:chOff x="0" y="0"/>
          <a:chExt cx="0" cy="0"/>
        </a:xfrm>
      </p:grpSpPr>
      <p:pic>
        <p:nvPicPr>
          <p:cNvPr id="324" name="Google Shape;324;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5" name="Google Shape;325;p29" descr="image.png"/>
          <p:cNvPicPr preferRelativeResize="0"/>
          <p:nvPr/>
        </p:nvPicPr>
        <p:blipFill rotWithShape="1">
          <a:blip r:embed="rId4">
            <a:alphaModFix/>
          </a:blip>
          <a:srcRect/>
          <a:stretch/>
        </p:blipFill>
        <p:spPr>
          <a:xfrm>
            <a:off x="581025" y="2133004"/>
            <a:ext cx="11029950" cy="3496865"/>
          </a:xfrm>
          <a:prstGeom prst="rect">
            <a:avLst/>
          </a:prstGeom>
          <a:noFill/>
          <a:ln>
            <a:noFill/>
          </a:ln>
        </p:spPr>
      </p:pic>
      <p:sp>
        <p:nvSpPr>
          <p:cNvPr id="326" name="Google Shape;326;p29"/>
          <p:cNvSpPr txBox="1"/>
          <p:nvPr/>
        </p:nvSpPr>
        <p:spPr>
          <a:xfrm>
            <a:off x="914400" y="2437804"/>
            <a:ext cx="762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FUNCTION</a:t>
            </a:r>
            <a:endParaRPr/>
          </a:p>
        </p:txBody>
      </p:sp>
      <p:sp>
        <p:nvSpPr>
          <p:cNvPr id="327" name="Google Shape;327;p29"/>
          <p:cNvSpPr txBox="1"/>
          <p:nvPr/>
        </p:nvSpPr>
        <p:spPr>
          <a:xfrm>
            <a:off x="1771650" y="2437804"/>
            <a:ext cx="123825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2D3EE"/>
                </a:solidFill>
                <a:latin typeface="JetBrains Mono"/>
                <a:ea typeface="JetBrains Mono"/>
                <a:cs typeface="JetBrains Mono"/>
                <a:sym typeface="JetBrains Mono"/>
              </a:rPr>
              <a:t>increaseStock</a:t>
            </a:r>
            <a:endParaRPr/>
          </a:p>
        </p:txBody>
      </p:sp>
      <p:sp>
        <p:nvSpPr>
          <p:cNvPr id="328" name="Google Shape;328;p29"/>
          <p:cNvSpPr txBox="1"/>
          <p:nvPr/>
        </p:nvSpPr>
        <p:spPr>
          <a:xfrm>
            <a:off x="914400" y="3412926"/>
            <a:ext cx="1143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END FUNCTION</a:t>
            </a:r>
            <a:endParaRPr/>
          </a:p>
        </p:txBody>
      </p:sp>
      <p:sp>
        <p:nvSpPr>
          <p:cNvPr id="329" name="Google Shape;329;p29"/>
          <p:cNvSpPr txBox="1"/>
          <p:nvPr/>
        </p:nvSpPr>
        <p:spPr>
          <a:xfrm>
            <a:off x="914400" y="3900487"/>
            <a:ext cx="762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FUNCTION</a:t>
            </a:r>
            <a:endParaRPr/>
          </a:p>
        </p:txBody>
      </p:sp>
      <p:sp>
        <p:nvSpPr>
          <p:cNvPr id="330" name="Google Shape;330;p29"/>
          <p:cNvSpPr txBox="1"/>
          <p:nvPr/>
        </p:nvSpPr>
        <p:spPr>
          <a:xfrm>
            <a:off x="1771650" y="3900487"/>
            <a:ext cx="123825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2D3EE"/>
                </a:solidFill>
                <a:latin typeface="JetBrains Mono"/>
                <a:ea typeface="JetBrains Mono"/>
                <a:cs typeface="JetBrains Mono"/>
                <a:sym typeface="JetBrains Mono"/>
              </a:rPr>
              <a:t>decreaseStock</a:t>
            </a:r>
            <a:endParaRPr/>
          </a:p>
        </p:txBody>
      </p:sp>
      <p:sp>
        <p:nvSpPr>
          <p:cNvPr id="331" name="Google Shape;331;p29"/>
          <p:cNvSpPr txBox="1"/>
          <p:nvPr/>
        </p:nvSpPr>
        <p:spPr>
          <a:xfrm>
            <a:off x="1104900" y="4388048"/>
            <a:ext cx="1905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IF</a:t>
            </a:r>
            <a:endParaRPr/>
          </a:p>
        </p:txBody>
      </p:sp>
      <p:sp>
        <p:nvSpPr>
          <p:cNvPr id="332" name="Google Shape;332;p29"/>
          <p:cNvSpPr txBox="1"/>
          <p:nvPr/>
        </p:nvSpPr>
        <p:spPr>
          <a:xfrm>
            <a:off x="3771900" y="4388048"/>
            <a:ext cx="104775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THEN RETURN</a:t>
            </a:r>
            <a:endParaRPr/>
          </a:p>
        </p:txBody>
      </p:sp>
      <p:sp>
        <p:nvSpPr>
          <p:cNvPr id="333" name="Google Shape;333;p29"/>
          <p:cNvSpPr txBox="1"/>
          <p:nvPr/>
        </p:nvSpPr>
        <p:spPr>
          <a:xfrm>
            <a:off x="914400" y="5119389"/>
            <a:ext cx="1143000" cy="2000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F472B6"/>
                </a:solidFill>
                <a:latin typeface="JetBrains Mono"/>
                <a:ea typeface="JetBrains Mono"/>
                <a:cs typeface="JetBrains Mono"/>
                <a:sym typeface="JetBrains Mono"/>
              </a:rPr>
              <a:t>END FUNCTION</a:t>
            </a:r>
            <a:endParaRPr/>
          </a:p>
        </p:txBody>
      </p:sp>
      <p:sp>
        <p:nvSpPr>
          <p:cNvPr id="334" name="Google Shape;334;p29"/>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Stock In/Out Pseudocode</a:t>
            </a:r>
            <a:endParaRPr/>
          </a:p>
        </p:txBody>
      </p:sp>
      <p:sp>
        <p:nvSpPr>
          <p:cNvPr id="335" name="Google Shape;335;p29"/>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0716"/>
        </a:solidFill>
        <a:effectLst/>
      </p:bgPr>
    </p:bg>
    <p:spTree>
      <p:nvGrpSpPr>
        <p:cNvPr id="1" name="Shape 339"/>
        <p:cNvGrpSpPr/>
        <p:nvPr/>
      </p:nvGrpSpPr>
      <p:grpSpPr>
        <a:xfrm>
          <a:off x="0" y="0"/>
          <a:ext cx="0" cy="0"/>
          <a:chOff x="0" y="0"/>
          <a:chExt cx="0" cy="0"/>
        </a:xfrm>
      </p:grpSpPr>
      <p:pic>
        <p:nvPicPr>
          <p:cNvPr id="340" name="Google Shape;340;p30"/>
          <p:cNvPicPr preferRelativeResize="0"/>
          <p:nvPr/>
        </p:nvPicPr>
        <p:blipFill rotWithShape="1">
          <a:blip r:embed="rId3">
            <a:alphaModFix/>
          </a:blip>
          <a:srcRect l="465" r="475"/>
          <a:stretch/>
        </p:blipFill>
        <p:spPr>
          <a:xfrm>
            <a:off x="0" y="0"/>
            <a:ext cx="12192000" cy="6874756"/>
          </a:xfrm>
          <a:prstGeom prst="rect">
            <a:avLst/>
          </a:prstGeom>
          <a:noFill/>
          <a:ln>
            <a:noFill/>
          </a:ln>
        </p:spPr>
      </p:pic>
      <p:pic>
        <p:nvPicPr>
          <p:cNvPr id="341" name="Google Shape;341;p30" descr="image.png"/>
          <p:cNvPicPr preferRelativeResize="0"/>
          <p:nvPr/>
        </p:nvPicPr>
        <p:blipFill rotWithShape="1">
          <a:blip r:embed="rId4">
            <a:alphaModFix/>
          </a:blip>
          <a:srcRect/>
          <a:stretch/>
        </p:blipFill>
        <p:spPr>
          <a:xfrm>
            <a:off x="581025" y="2867025"/>
            <a:ext cx="3486150" cy="2028825"/>
          </a:xfrm>
          <a:prstGeom prst="rect">
            <a:avLst/>
          </a:prstGeom>
          <a:noFill/>
          <a:ln>
            <a:noFill/>
          </a:ln>
        </p:spPr>
      </p:pic>
      <p:pic>
        <p:nvPicPr>
          <p:cNvPr id="342" name="Google Shape;342;p30" descr="image.png"/>
          <p:cNvPicPr preferRelativeResize="0"/>
          <p:nvPr/>
        </p:nvPicPr>
        <p:blipFill rotWithShape="1">
          <a:blip r:embed="rId5">
            <a:alphaModFix/>
          </a:blip>
          <a:srcRect/>
          <a:stretch/>
        </p:blipFill>
        <p:spPr>
          <a:xfrm>
            <a:off x="4352925" y="2867025"/>
            <a:ext cx="3486150" cy="2028825"/>
          </a:xfrm>
          <a:prstGeom prst="rect">
            <a:avLst/>
          </a:prstGeom>
          <a:noFill/>
          <a:ln>
            <a:noFill/>
          </a:ln>
        </p:spPr>
      </p:pic>
      <p:pic>
        <p:nvPicPr>
          <p:cNvPr id="343" name="Google Shape;343;p30" descr="image.png"/>
          <p:cNvPicPr preferRelativeResize="0"/>
          <p:nvPr/>
        </p:nvPicPr>
        <p:blipFill rotWithShape="1">
          <a:blip r:embed="rId6">
            <a:alphaModFix/>
          </a:blip>
          <a:srcRect/>
          <a:stretch/>
        </p:blipFill>
        <p:spPr>
          <a:xfrm>
            <a:off x="8124825" y="2867025"/>
            <a:ext cx="3486150" cy="2028825"/>
          </a:xfrm>
          <a:prstGeom prst="rect">
            <a:avLst/>
          </a:prstGeom>
          <a:noFill/>
          <a:ln>
            <a:noFill/>
          </a:ln>
        </p:spPr>
      </p:pic>
      <p:pic>
        <p:nvPicPr>
          <p:cNvPr id="344" name="Google Shape;344;p30" descr="image.png"/>
          <p:cNvPicPr preferRelativeResize="0"/>
          <p:nvPr/>
        </p:nvPicPr>
        <p:blipFill rotWithShape="1">
          <a:blip r:embed="rId7">
            <a:alphaModFix/>
          </a:blip>
          <a:srcRect/>
          <a:stretch/>
        </p:blipFill>
        <p:spPr>
          <a:xfrm>
            <a:off x="876300" y="3162300"/>
            <a:ext cx="2895600" cy="152400"/>
          </a:xfrm>
          <a:prstGeom prst="rect">
            <a:avLst/>
          </a:prstGeom>
          <a:noFill/>
          <a:ln>
            <a:noFill/>
          </a:ln>
        </p:spPr>
      </p:pic>
      <p:sp>
        <p:nvSpPr>
          <p:cNvPr id="345" name="Google Shape;345;p30"/>
          <p:cNvSpPr txBox="1"/>
          <p:nvPr/>
        </p:nvSpPr>
        <p:spPr>
          <a:xfrm>
            <a:off x="876300" y="3314700"/>
            <a:ext cx="304038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D8B4FE"/>
                </a:solidFill>
                <a:latin typeface="Poppins"/>
                <a:ea typeface="Poppins"/>
                <a:cs typeface="Poppins"/>
                <a:sym typeface="Poppins"/>
              </a:rPr>
              <a:t>SKU Logic</a:t>
            </a:r>
            <a:endParaRPr/>
          </a:p>
        </p:txBody>
      </p:sp>
      <p:sp>
        <p:nvSpPr>
          <p:cNvPr id="346" name="Google Shape;346;p30"/>
          <p:cNvSpPr txBox="1"/>
          <p:nvPr/>
        </p:nvSpPr>
        <p:spPr>
          <a:xfrm>
            <a:off x="876300" y="3914775"/>
            <a:ext cx="28956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CBD5E1"/>
                </a:solidFill>
                <a:latin typeface="Lato"/>
                <a:ea typeface="Lato"/>
                <a:cs typeface="Lato"/>
                <a:sym typeface="Lato"/>
              </a:rPr>
              <a:t>Automated checks to ensure no two products share the same code.</a:t>
            </a:r>
            <a:endParaRPr/>
          </a:p>
        </p:txBody>
      </p:sp>
      <p:pic>
        <p:nvPicPr>
          <p:cNvPr id="347" name="Google Shape;347;p30" descr="image.png"/>
          <p:cNvPicPr preferRelativeResize="0"/>
          <p:nvPr/>
        </p:nvPicPr>
        <p:blipFill rotWithShape="1">
          <a:blip r:embed="rId8">
            <a:alphaModFix/>
          </a:blip>
          <a:srcRect/>
          <a:stretch/>
        </p:blipFill>
        <p:spPr>
          <a:xfrm>
            <a:off x="4648200" y="3162300"/>
            <a:ext cx="2895600" cy="152400"/>
          </a:xfrm>
          <a:prstGeom prst="rect">
            <a:avLst/>
          </a:prstGeom>
          <a:noFill/>
          <a:ln>
            <a:noFill/>
          </a:ln>
        </p:spPr>
      </p:pic>
      <p:sp>
        <p:nvSpPr>
          <p:cNvPr id="348" name="Google Shape;348;p30"/>
          <p:cNvSpPr txBox="1"/>
          <p:nvPr/>
        </p:nvSpPr>
        <p:spPr>
          <a:xfrm>
            <a:off x="4648200" y="3314700"/>
            <a:ext cx="304038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D8B4FE"/>
                </a:solidFill>
                <a:latin typeface="Poppins"/>
                <a:ea typeface="Poppins"/>
                <a:cs typeface="Poppins"/>
                <a:sym typeface="Poppins"/>
              </a:rPr>
              <a:t>Deltas</a:t>
            </a:r>
            <a:endParaRPr/>
          </a:p>
        </p:txBody>
      </p:sp>
      <p:sp>
        <p:nvSpPr>
          <p:cNvPr id="349" name="Google Shape;349;p30"/>
          <p:cNvSpPr txBox="1"/>
          <p:nvPr/>
        </p:nvSpPr>
        <p:spPr>
          <a:xfrm>
            <a:off x="4648200" y="3914775"/>
            <a:ext cx="28956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CBD5E1"/>
                </a:solidFill>
                <a:latin typeface="Lato"/>
                <a:ea typeface="Lato"/>
                <a:cs typeface="Lato"/>
                <a:sym typeface="Lato"/>
              </a:rPr>
              <a:t>Tracking the "Delta" (change) in stock after every transaction.</a:t>
            </a:r>
            <a:endParaRPr/>
          </a:p>
        </p:txBody>
      </p:sp>
      <p:pic>
        <p:nvPicPr>
          <p:cNvPr id="350" name="Google Shape;350;p30" descr="image.png"/>
          <p:cNvPicPr preferRelativeResize="0"/>
          <p:nvPr/>
        </p:nvPicPr>
        <p:blipFill rotWithShape="1">
          <a:blip r:embed="rId9">
            <a:alphaModFix/>
          </a:blip>
          <a:srcRect/>
          <a:stretch/>
        </p:blipFill>
        <p:spPr>
          <a:xfrm>
            <a:off x="8420100" y="3162300"/>
            <a:ext cx="2895600" cy="152400"/>
          </a:xfrm>
          <a:prstGeom prst="rect">
            <a:avLst/>
          </a:prstGeom>
          <a:noFill/>
          <a:ln>
            <a:noFill/>
          </a:ln>
        </p:spPr>
      </p:pic>
      <p:sp>
        <p:nvSpPr>
          <p:cNvPr id="351" name="Google Shape;351;p30"/>
          <p:cNvSpPr txBox="1"/>
          <p:nvPr/>
        </p:nvSpPr>
        <p:spPr>
          <a:xfrm>
            <a:off x="8420100" y="3314700"/>
            <a:ext cx="304038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D8B4FE"/>
                </a:solidFill>
                <a:latin typeface="Poppins"/>
                <a:ea typeface="Poppins"/>
                <a:cs typeface="Poppins"/>
                <a:sym typeface="Poppins"/>
              </a:rPr>
              <a:t>Alerts</a:t>
            </a:r>
            <a:endParaRPr/>
          </a:p>
        </p:txBody>
      </p:sp>
      <p:sp>
        <p:nvSpPr>
          <p:cNvPr id="352" name="Google Shape;352;p30"/>
          <p:cNvSpPr txBox="1"/>
          <p:nvPr/>
        </p:nvSpPr>
        <p:spPr>
          <a:xfrm>
            <a:off x="8420100" y="3914775"/>
            <a:ext cx="289560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CBD5E1"/>
                </a:solidFill>
                <a:latin typeface="Lato"/>
                <a:ea typeface="Lato"/>
                <a:cs typeface="Lato"/>
                <a:sym typeface="Lato"/>
              </a:rPr>
              <a:t>Event-driven notifications for low stock thresholds.</a:t>
            </a:r>
            <a:endParaRPr/>
          </a:p>
        </p:txBody>
      </p:sp>
      <p:sp>
        <p:nvSpPr>
          <p:cNvPr id="353" name="Google Shape;353;p30"/>
          <p:cNvSpPr txBox="1"/>
          <p:nvPr/>
        </p:nvSpPr>
        <p:spPr>
          <a:xfrm>
            <a:off x="771525" y="581025"/>
            <a:ext cx="1138142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F5F3FF"/>
                </a:solidFill>
                <a:latin typeface="Poppins"/>
                <a:ea typeface="Poppins"/>
                <a:cs typeface="Poppins"/>
                <a:sym typeface="Poppins"/>
              </a:rPr>
              <a:t>Module 2: Key Concepts</a:t>
            </a:r>
            <a:endParaRPr/>
          </a:p>
        </p:txBody>
      </p:sp>
      <p:sp>
        <p:nvSpPr>
          <p:cNvPr id="354" name="Google Shape;354;p30"/>
          <p:cNvSpPr/>
          <p:nvPr/>
        </p:nvSpPr>
        <p:spPr>
          <a:xfrm>
            <a:off x="581025" y="581025"/>
            <a:ext cx="95250" cy="619125"/>
          </a:xfrm>
          <a:prstGeom prst="rect">
            <a:avLst/>
          </a:prstGeom>
          <a:solidFill>
            <a:srgbClr val="8B5C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55" name="Google Shape;355;p30"/>
          <p:cNvPicPr preferRelativeResize="0"/>
          <p:nvPr/>
        </p:nvPicPr>
        <p:blipFill rotWithShape="1">
          <a:blip r:embed="rId3">
            <a:alphaModFix/>
          </a:blip>
          <a:srcRect t="129" b="139"/>
          <a:stretch/>
        </p:blipFill>
        <p:spPr>
          <a:xfrm>
            <a:off x="-39050" y="10322"/>
            <a:ext cx="12192000" cy="6792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31" descr="in this slide for the controller chnage the api gates ways to request handlings"/>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pic>
        <p:nvPicPr>
          <p:cNvPr id="365" name="Google Shape;365;p32" descr="Use this takeaways as an example and create me the slide Authentication ensures the secure uses access with JW tokens and service layer contains all basic logics and repository pattern suppress data access and SKU prevents duplicates products in inventory and stock levels are tracked in real time systems Create me the slide using this change some simple ternology Terminology"/>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370" name="Google Shape;370;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71" name="Google Shape;371;p33"/>
          <p:cNvSpPr txBox="1"/>
          <p:nvPr/>
        </p:nvSpPr>
        <p:spPr>
          <a:xfrm>
            <a:off x="3285648" y="1400175"/>
            <a:ext cx="5620702" cy="1428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0" b="1" i="0" u="none" strike="noStrike" cap="none">
                <a:solidFill>
                  <a:srgbClr val="D946EF"/>
                </a:solidFill>
                <a:latin typeface="Poppins"/>
                <a:ea typeface="Poppins"/>
                <a:cs typeface="Poppins"/>
                <a:sym typeface="Poppins"/>
              </a:rPr>
              <a:t>Thank You!</a:t>
            </a:r>
            <a:endParaRPr/>
          </a:p>
        </p:txBody>
      </p:sp>
      <p:sp>
        <p:nvSpPr>
          <p:cNvPr id="372" name="Google Shape;372;p33"/>
          <p:cNvSpPr txBox="1"/>
          <p:nvPr/>
        </p:nvSpPr>
        <p:spPr>
          <a:xfrm>
            <a:off x="3857625" y="3019425"/>
            <a:ext cx="4476750" cy="342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dirty="0">
                <a:solidFill>
                  <a:srgbClr val="F5F3FF"/>
                </a:solidFill>
                <a:latin typeface="Lato"/>
                <a:ea typeface="Lato"/>
                <a:cs typeface="Lato"/>
                <a:sym typeface="Lato"/>
              </a:rPr>
              <a:t>Inventra Modules 1 &amp; 2 - Seminar Completed</a:t>
            </a:r>
            <a:endParaRPr dirty="0"/>
          </a:p>
        </p:txBody>
      </p:sp>
      <p:sp>
        <p:nvSpPr>
          <p:cNvPr id="373" name="Google Shape;373;p33"/>
          <p:cNvSpPr/>
          <p:nvPr/>
        </p:nvSpPr>
        <p:spPr>
          <a:xfrm>
            <a:off x="5143500" y="3838575"/>
            <a:ext cx="1905000" cy="38100"/>
          </a:xfrm>
          <a:prstGeom prst="rect">
            <a:avLst/>
          </a:prstGeom>
          <a:solidFill>
            <a:srgbClr val="A78B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33"/>
          <p:cNvSpPr txBox="1"/>
          <p:nvPr/>
        </p:nvSpPr>
        <p:spPr>
          <a:xfrm>
            <a:off x="5186362" y="4162425"/>
            <a:ext cx="1819275" cy="4000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a:solidFill>
                  <a:srgbClr val="CBD5E1"/>
                </a:solidFill>
                <a:latin typeface="Lato"/>
                <a:ea typeface="Lato"/>
                <a:cs typeface="Lato"/>
                <a:sym typeface="Lato"/>
              </a:rPr>
              <a:t>Any Questions?</a:t>
            </a:r>
            <a:endParaRPr/>
          </a:p>
        </p:txBody>
      </p:sp>
      <p:sp>
        <p:nvSpPr>
          <p:cNvPr id="375" name="Google Shape;375;p33"/>
          <p:cNvSpPr txBox="1"/>
          <p:nvPr/>
        </p:nvSpPr>
        <p:spPr>
          <a:xfrm>
            <a:off x="4852987" y="5086350"/>
            <a:ext cx="2486100" cy="215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2790</TotalTime>
  <Words>361</Words>
  <Application>Microsoft Office PowerPoint</Application>
  <PresentationFormat>Widescreen</PresentationFormat>
  <Paragraphs>136</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Poppins</vt:lpstr>
      <vt:lpstr>Calibri</vt:lpstr>
      <vt:lpstr>Arial</vt:lpstr>
      <vt:lpstr>Lato</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hemanthravva33@gmail.com</cp:lastModifiedBy>
  <cp:revision>3</cp:revision>
  <dcterms:modified xsi:type="dcterms:W3CDTF">2025-12-30T06:34:46Z</dcterms:modified>
</cp:coreProperties>
</file>