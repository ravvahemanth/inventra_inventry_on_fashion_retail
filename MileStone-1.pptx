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Urbanist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B5A42F-2E1D-412D-A350-1F75D4932AF0}">
  <a:tblStyle styleId="{A0B5A42F-2E1D-412D-A350-1F75D4932AF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Urbanist-regular.fntdata"/><Relationship Id="rId14" Type="http://schemas.openxmlformats.org/officeDocument/2006/relationships/slide" Target="slides/slide8.xml"/><Relationship Id="rId17" Type="http://schemas.openxmlformats.org/officeDocument/2006/relationships/font" Target="fonts/Urbanist-italic.fntdata"/><Relationship Id="rId16" Type="http://schemas.openxmlformats.org/officeDocument/2006/relationships/font" Target="fonts/Urbanis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Urbanis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d03c607f4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ad03c607f4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d03c607f4_0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d03c607f4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d03c607f4_0_1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d03c607f4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9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12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10" Type="http://schemas.openxmlformats.org/officeDocument/2006/relationships/image" Target="../media/image4.png"/><Relationship Id="rId9" Type="http://schemas.openxmlformats.org/officeDocument/2006/relationships/image" Target="../media/image19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16.png"/><Relationship Id="rId8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019175" y="2215901"/>
            <a:ext cx="11121390" cy="2262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Inventra </a:t>
            </a:r>
            <a:r>
              <a:rPr b="1" i="0" lang="en-US" sz="5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Intelligent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Inventory Management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System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923700" y="4955609"/>
            <a:ext cx="105918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Next-Generation Smart-Driven Logistics Solution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1" name="Google Shape;6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" name="Google Shape;6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79860"/>
            <a:ext cx="3486150" cy="42971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" name="Google Shape;6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979860"/>
            <a:ext cx="3486150" cy="42971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" name="Google Shape;6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979860"/>
            <a:ext cx="3486150" cy="429711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876300" y="2922835"/>
            <a:ext cx="262032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Inventra (The Identity)</a:t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876300" y="3551485"/>
            <a:ext cx="2895600" cy="1447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unique fusion of "Inventory" and "Central," symbolizing a modern, unified hub where all stock operations and data converge for easy access.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4648200" y="2922835"/>
            <a:ext cx="248031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Intelligent (The Core)</a:t>
            </a:r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4648200" y="3551485"/>
            <a:ext cx="2895600" cy="1447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Unlike basic apps, this system employs smart logic to automate tasks, generate low-stock alerts, and provide data-driven insights to minimize human error.</a:t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8420100" y="2922835"/>
            <a:ext cx="304038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Inventory System (Function)</a:t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8420100" y="3856285"/>
            <a:ext cx="2895600" cy="1447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robust software solution designed to streamline the end-to-end tracking of products—from procurement to sales—ensuring efficiency.</a:t>
            </a:r>
            <a:endParaRPr/>
          </a:p>
        </p:txBody>
      </p:sp>
      <p:pic>
        <p:nvPicPr>
          <p:cNvPr descr="image.png" id="71" name="Google Shape;7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30371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" name="Google Shape;7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230371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" name="Google Shape;7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230371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/>
        </p:nvSpPr>
        <p:spPr>
          <a:xfrm>
            <a:off x="581025" y="91306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Unpacking "Inventra"</a:t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581025" y="1589335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0" name="Google Shape;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1" name="Google Shape;8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79860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/>
        </p:nvSpPr>
        <p:spPr>
          <a:xfrm>
            <a:off x="581025" y="2160835"/>
            <a:ext cx="52768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Current inventory tracking methods rely heavily on manual entry and disjointed tools, leading to significant bottlenecks:</a:t>
            </a:r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1057275" y="2892176"/>
            <a:ext cx="48006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Manual Errors: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High reliance on spreadsheets leads to data entry mistakes and stock discrepancies.</a:t>
            </a:r>
            <a:endParaRPr/>
          </a:p>
        </p:txBody>
      </p:sp>
      <p:sp>
        <p:nvSpPr>
          <p:cNvPr id="84" name="Google Shape;84;p15"/>
          <p:cNvSpPr txBox="1"/>
          <p:nvPr/>
        </p:nvSpPr>
        <p:spPr>
          <a:xfrm>
            <a:off x="1057275" y="3613993"/>
            <a:ext cx="48006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Lack of Real-Time Data: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Stock levels are updated periodically, causing "blind spots" in supply chain visibility.</a:t>
            </a:r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1057275" y="4335809"/>
            <a:ext cx="48006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Reactive, Not Proactive: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Managers react to stockouts after they happen, leading to lost sales.</a:t>
            </a:r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1057275" y="5057626"/>
            <a:ext cx="48006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Siloed Information: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Sales, warehouse, and procurement teams operate on different systems.</a:t>
            </a:r>
            <a:endParaRPr/>
          </a:p>
        </p:txBody>
      </p:sp>
      <p:pic>
        <p:nvPicPr>
          <p:cNvPr descr="image.png" id="87" name="Google Shape;8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89385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/>
        </p:nvSpPr>
        <p:spPr>
          <a:xfrm>
            <a:off x="581025" y="91306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The Existing System</a:t>
            </a: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581025" y="1589335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0" name="Google Shape;9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2930276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3652093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373909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5095726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1064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 txBox="1"/>
          <p:nvPr/>
        </p:nvSpPr>
        <p:spPr>
          <a:xfrm>
            <a:off x="581025" y="1991617"/>
            <a:ext cx="52768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Inventra proposes a cloud-based, modular architecture designed for seamless scalability:</a:t>
            </a:r>
            <a:endParaRPr/>
          </a:p>
        </p:txBody>
      </p:sp>
      <p:sp>
        <p:nvSpPr>
          <p:cNvPr id="101" name="Google Shape;101;p16"/>
          <p:cNvSpPr txBox="1"/>
          <p:nvPr/>
        </p:nvSpPr>
        <p:spPr>
          <a:xfrm>
            <a:off x="1057275" y="2808684"/>
            <a:ext cx="48006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1. Admin, Employee Login &amp; Security: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Centralized user control, role-based access, and system configuration.</a:t>
            </a: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1057275" y="3530500"/>
            <a:ext cx="48006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2. Inventory &amp; Stock Tracking: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Real-time tracking, barcode scanning, and batch management.</a:t>
            </a:r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1057275" y="4252317"/>
            <a:ext cx="48006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3. Smart Alerts &amp; Forecasting: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Low stock monitoring and reorder management to avoid stockouts.</a:t>
            </a:r>
            <a:endParaRPr/>
          </a:p>
        </p:txBody>
      </p:sp>
      <p:sp>
        <p:nvSpPr>
          <p:cNvPr id="104" name="Google Shape;104;p16"/>
          <p:cNvSpPr txBox="1"/>
          <p:nvPr/>
        </p:nvSpPr>
        <p:spPr>
          <a:xfrm>
            <a:off x="1057275" y="4974133"/>
            <a:ext cx="48006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4. Transaction History: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Logs every purchase or sale with time, quantity, person, and product details.</a:t>
            </a: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1057275" y="5695950"/>
            <a:ext cx="48006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5. Exportable Reports: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Generates professional PDF/CSV reports for business decisions.</a:t>
            </a:r>
            <a:endParaRPr/>
          </a:p>
        </p:txBody>
      </p:sp>
      <p:pic>
        <p:nvPicPr>
          <p:cNvPr descr="image.png" id="106" name="Google Shape;10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820167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 txBox="1"/>
          <p:nvPr/>
        </p:nvSpPr>
        <p:spPr>
          <a:xfrm>
            <a:off x="581025" y="743842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Proposed Architecture &amp; Modules</a:t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581025" y="1420117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9" name="Google Shape;10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2846784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356860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290417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5012233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5734050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79860"/>
            <a:ext cx="3486150" cy="42971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979860"/>
            <a:ext cx="3486150" cy="42971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979860"/>
            <a:ext cx="3486150" cy="4297114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/>
        </p:nvSpPr>
        <p:spPr>
          <a:xfrm>
            <a:off x="876300" y="2922835"/>
            <a:ext cx="104013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Frontend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4648200" y="2922835"/>
            <a:ext cx="100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Backend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8420100" y="2922835"/>
            <a:ext cx="113014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Database</a:t>
            </a:r>
            <a:endParaRPr/>
          </a:p>
        </p:txBody>
      </p:sp>
      <p:pic>
        <p:nvPicPr>
          <p:cNvPr descr="image.png" id="125" name="Google Shape;12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30371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/>
        </p:nvSpPr>
        <p:spPr>
          <a:xfrm>
            <a:off x="1352550" y="3522910"/>
            <a:ext cx="24098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HTML5, CSS3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1352550" y="3955256"/>
            <a:ext cx="24098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Bootstrap (Responsive UI)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1352550" y="4387601"/>
            <a:ext cx="24098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JavaScript (Interactivity)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1352550" y="4819947"/>
            <a:ext cx="24098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Thymeleaf (Template Engine)</a:t>
            </a:r>
            <a:endParaRPr/>
          </a:p>
        </p:txBody>
      </p:sp>
      <p:pic>
        <p:nvPicPr>
          <p:cNvPr descr="image.png" id="130" name="Google Shape;13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230371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5124450" y="3522910"/>
            <a:ext cx="216217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Java 17 (Core Language)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5124450" y="3955256"/>
            <a:ext cx="216217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Spring Boot (Framework)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5124450" y="4387601"/>
            <a:ext cx="216217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Spring MVC (Web Layer)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5124450" y="4819947"/>
            <a:ext cx="216217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REST API (Communication)</a:t>
            </a:r>
            <a:endParaRPr/>
          </a:p>
        </p:txBody>
      </p:sp>
      <p:pic>
        <p:nvPicPr>
          <p:cNvPr descr="image.png" id="135" name="Google Shape;13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230371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8896350" y="3522910"/>
            <a:ext cx="18383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MySQL (Relational DB)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8896350" y="3955256"/>
            <a:ext cx="18383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Hibernate (ORM)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896350" y="4387601"/>
            <a:ext cx="18383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JPA (Persistence API)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81025" y="91306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System Configuration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581025" y="1589335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1" name="Google Shape;141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66800" y="356101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66800" y="3993356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66800" y="442570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66800" y="4858047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38700" y="356101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38700" y="3993356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38700" y="442570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38700" y="4858047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10600" y="356101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10600" y="3993356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10600" y="4425701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 txBox="1"/>
          <p:nvPr/>
        </p:nvSpPr>
        <p:spPr>
          <a:xfrm>
            <a:off x="827425" y="541000"/>
            <a:ext cx="78954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5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Module 1: Admin &amp; User Management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581025" y="1979860"/>
            <a:ext cx="5640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Module Description</a:t>
            </a:r>
            <a:endParaRPr sz="1500"/>
          </a:p>
        </p:txBody>
      </p:sp>
      <p:sp>
        <p:nvSpPr>
          <p:cNvPr id="158" name="Google Shape;158;p18"/>
          <p:cNvSpPr txBox="1"/>
          <p:nvPr/>
        </p:nvSpPr>
        <p:spPr>
          <a:xfrm>
            <a:off x="581025" y="2437050"/>
            <a:ext cx="966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backbone of the system, handling authentication, authorization, and security logs.</a:t>
            </a:r>
            <a:endParaRPr sz="2200"/>
          </a:p>
        </p:txBody>
      </p:sp>
      <p:sp>
        <p:nvSpPr>
          <p:cNvPr id="159" name="Google Shape;159;p18"/>
          <p:cNvSpPr txBox="1"/>
          <p:nvPr/>
        </p:nvSpPr>
        <p:spPr>
          <a:xfrm>
            <a:off x="581025" y="3115121"/>
            <a:ext cx="5640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Key Classes &amp; Uses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1057275" y="3572325"/>
            <a:ext cx="93363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5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AuthController</a:t>
            </a:r>
            <a:r>
              <a:rPr b="0" i="0" lang="en-US" sz="20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Handles HTTP endpoints for Login, Register, and Forgot Password.</a:t>
            </a:r>
            <a:endParaRPr sz="2000"/>
          </a:p>
        </p:txBody>
      </p:sp>
      <p:sp>
        <p:nvSpPr>
          <p:cNvPr id="161" name="Google Shape;161;p18"/>
          <p:cNvSpPr txBox="1"/>
          <p:nvPr/>
        </p:nvSpPr>
        <p:spPr>
          <a:xfrm>
            <a:off x="1057275" y="4294125"/>
            <a:ext cx="94158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25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AuthService</a:t>
            </a:r>
            <a:r>
              <a:rPr b="0" i="0" lang="en-US" sz="18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Contains business logic for authenticating users, registering new accounts, and resetting passwords.</a:t>
            </a:r>
            <a:endParaRPr sz="1800"/>
          </a:p>
        </p:txBody>
      </p:sp>
      <p:sp>
        <p:nvSpPr>
          <p:cNvPr id="162" name="Google Shape;162;p18"/>
          <p:cNvSpPr txBox="1"/>
          <p:nvPr/>
        </p:nvSpPr>
        <p:spPr>
          <a:xfrm>
            <a:off x="1057275" y="5160900"/>
            <a:ext cx="9845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25" u="none" cap="none" strike="noStrik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UserRepository</a:t>
            </a:r>
            <a:r>
              <a:rPr b="0" i="0" lang="en-US" sz="19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Interface for DB operations: 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92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saveUser(), findByUsername(), findByEmail().</a:t>
            </a:r>
            <a:endParaRPr sz="1900"/>
          </a:p>
        </p:txBody>
      </p:sp>
      <p:sp>
        <p:nvSpPr>
          <p:cNvPr id="163" name="Google Shape;163;p18"/>
          <p:cNvSpPr/>
          <p:nvPr/>
        </p:nvSpPr>
        <p:spPr>
          <a:xfrm>
            <a:off x="581025" y="1589335"/>
            <a:ext cx="110301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361042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4332237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5054054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2" name="Google Shape;172;p19"/>
          <p:cNvGraphicFramePr/>
          <p:nvPr/>
        </p:nvGraphicFramePr>
        <p:xfrm>
          <a:off x="1992688" y="21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{A0B5A42F-2E1D-412D-A350-1F75D4932AF0}</a:tableStyleId>
              </a:tblPr>
              <a:tblGrid>
                <a:gridCol w="1609725"/>
                <a:gridCol w="2266950"/>
                <a:gridCol w="4648200"/>
              </a:tblGrid>
              <a:tr h="516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1550">
                          <a:solidFill>
                            <a:srgbClr val="38BDF8"/>
                          </a:solidFill>
                        </a:rPr>
                        <a:t>Column</a:t>
                      </a:r>
                      <a:endParaRPr b="1" i="1" sz="1550">
                        <a:solidFill>
                          <a:srgbClr val="38BDF8"/>
                        </a:solidFill>
                      </a:endParaRPr>
                    </a:p>
                  </a:txBody>
                  <a:tcPr marT="114300" marB="114300" marR="142875" marL="142875">
                    <a:lnB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1650">
                          <a:solidFill>
                            <a:srgbClr val="38BDF8"/>
                          </a:solidFill>
                        </a:rPr>
                        <a:t>Type</a:t>
                      </a:r>
                      <a:endParaRPr b="1" i="1" sz="1650">
                        <a:solidFill>
                          <a:srgbClr val="38BDF8"/>
                        </a:solidFill>
                      </a:endParaRPr>
                    </a:p>
                  </a:txBody>
                  <a:tcPr marT="114300" marB="114300" marR="142875" marL="142875">
                    <a:lnB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1850">
                          <a:solidFill>
                            <a:srgbClr val="38BDF8"/>
                          </a:solidFill>
                        </a:rPr>
                        <a:t>Constraints / Notes</a:t>
                      </a:r>
                      <a:endParaRPr b="1" i="1" sz="1850">
                        <a:solidFill>
                          <a:srgbClr val="38BDF8"/>
                        </a:solidFill>
                      </a:endParaRPr>
                    </a:p>
                  </a:txBody>
                  <a:tcPr marT="114300" marB="114300" marR="142875" marL="142875">
                    <a:lnB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</a:tr>
              <a:tr h="51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user_id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14300" marB="114300" marR="142875" marL="142875">
                    <a:lnT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BIGINT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14300" marB="114300" marR="142875" marL="142875">
                    <a:lnT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PRIMARY KEY, AUTO_INCREMENT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14300" marB="114300" marR="142875" marL="142875">
                    <a:lnT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</a:tr>
              <a:tr h="51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username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14300" marB="114300" marR="142875" marL="142875">
                    <a:lnT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VARCHAR(50)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14300" marB="114300" marR="142875" marL="142875">
                    <a:lnT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NOT NULL, UNIQUE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14300" marB="114300" marR="142875" marL="142875">
                    <a:lnT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</a:tr>
              <a:tr h="51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password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14300" marB="114300" marR="142875" marL="142875">
                    <a:lnT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VARCHAR(255)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14300" marB="114300" marR="142875" marL="142875">
                    <a:lnT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NOT NULL (Stored as Hash)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14300" marB="114300" marR="142875" marL="142875">
                    <a:lnT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</a:tr>
              <a:tr h="51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email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14300" marB="114300" marR="142875" marL="142875">
                    <a:lnT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VARCHAR(100)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14300" marB="114300" marR="142875" marL="142875">
                    <a:lnT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UNIQUE, NOT NULL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14300" marB="114300" marR="142875" marL="142875">
                    <a:lnT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</a:tr>
              <a:tr h="51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role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14300" marB="114300" marR="142875" marL="142875">
                    <a:lnT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VARCHAR(20)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14300" marB="114300" marR="142875" marL="142875">
                    <a:lnT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DEFAULT 'USER' (e.g., ADMIN)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14300" marB="114300" marR="142875" marL="142875">
                    <a:lnT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</a:tr>
              <a:tr h="51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created_at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14300" marB="114300" marR="142875" marL="142875">
                    <a:lnT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TIMESTAMP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14300" marB="114300" marR="142875" marL="142875">
                    <a:lnT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DEFAULT CURRENT_TIMESTAMP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14300" marB="114300" marR="142875" marL="142875">
                    <a:lnT cap="flat" cmpd="sng" w="7625">
                      <a:solidFill>
                        <a:srgbClr val="4444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173" name="Google Shape;173;p19"/>
          <p:cNvSpPr txBox="1"/>
          <p:nvPr/>
        </p:nvSpPr>
        <p:spPr>
          <a:xfrm>
            <a:off x="602425" y="118445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1018350" y="387550"/>
            <a:ext cx="85248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Module 1: Admin &amp; User Management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311500" y="1354650"/>
            <a:ext cx="3000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User Table :</a:t>
            </a:r>
            <a:r>
              <a:rPr b="1" lang="en-US" sz="315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nak you slide is mustbe ctreive an fun genration " id="180" name="Google Shape;18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